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0872A"/>
                </a:solidFill>
                <a:latin typeface="Calibri"/>
              </a:rPr>
              <a:t>MERIDIAN FAMILY OFFICE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AI Copilot — Test Suite &amp;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C8CDDD"/>
                </a:solidFill>
                <a:latin typeface="Calibri"/>
              </a:rPr>
              <a:t>Verifying the deterministic engine, the deliverable layer, and the end-to-end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>
                <a:solidFill>
                  <a:srgbClr val="7FD1A0"/>
                </a:solidFill>
                <a:latin typeface="Calibri"/>
              </a:rPr>
              <a:t>65/65 tests passed   ·   15 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9AA4C4"/>
                </a:solidFill>
                <a:latin typeface="Calibri"/>
              </a:rPr>
              <a:t>Runs fully offline in DEMO_MODE — no API key, no network, no billing.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E2A56"/>
                </a:solidFill>
                <a:latin typeface="Calibri"/>
              </a:rPr>
              <a:t>Coverage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51560"/>
            <a:ext cx="2926080" cy="45720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E2A56"/>
                </a:solidFill>
                <a:latin typeface="Calibri"/>
              </a:rPr>
              <a:t>Central invariant: </a:t>
            </a:r>
            <a:r>
              <a:rPr sz="1400" b="0">
                <a:solidFill>
                  <a:srgbClr val="16203C"/>
                </a:solidFill>
                <a:latin typeface="Calibri"/>
              </a:rPr>
              <a:t>every number is deterministic; documents and instructions shape prose, never figures.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3611880" cy="2377440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3611880" cy="109728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A56"/>
                </a:solidFill>
                <a:latin typeface="Calibri"/>
              </a:rPr>
              <a:t>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803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0872A"/>
                </a:solidFill>
                <a:latin typeface="Calibri"/>
              </a:rPr>
              <a:t>3 files · 30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3832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Parsing · reconciliation · suitability · grounded Q&amp;A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103120"/>
            <a:ext cx="3611880" cy="2377440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2103120"/>
            <a:ext cx="3611880" cy="109728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37744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A56"/>
                </a:solidFill>
                <a:latin typeface="Calibri"/>
              </a:rPr>
              <a:t>Deliverable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8803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0872A"/>
                </a:solidFill>
                <a:latin typeface="Calibri"/>
              </a:rPr>
              <a:t>3 files · 21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3832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Doc ingestion · portable prompt · narrative · deck render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103120"/>
            <a:ext cx="3611880" cy="2377440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2103120"/>
            <a:ext cx="3611880" cy="109728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37744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E2A56"/>
                </a:solidFill>
                <a:latin typeface="Calibri"/>
              </a:rPr>
              <a:t>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8803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B0872A"/>
                </a:solidFill>
                <a:latin typeface="Calibri"/>
              </a:rPr>
              <a:t>1 file · 14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3832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Streamlit end-to-end across every 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377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E2A56"/>
                </a:solidFill>
                <a:latin typeface="Calibri"/>
              </a:rPr>
              <a:t>What's proven end-to-end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• The v10 fix: research/other documents and tactical instructions change the deterministic commentary and every exported deck (HTML, PPTX, PDF).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• The same book reads differently by mandate: advisory flags, discretionary hard-blocks.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• Reconciliation catches the ~$436 custodian break instead of trusting it silently.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Statement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Engine  ·  tests/test_statement_parser.py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9/9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Parse the three custodian formats, reconcile against each statement's own total, convert FX to USD, and keep a PII-free continuity key. Every downstream number rides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Parse custodian A (USD, per-share CSV) into valued positions.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Semicolon CSV, European decimals, EUR/CHF → converted to a USD base.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JSON custodian carries illiquid alternatives + a Lombard loan (a liability).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One sample deliberately fails its checksum by ~$436 — it must be flagged, not silently trusted.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~$436 break on custodian B reconciles under a generous tolerance but fails under a tight one — proving the checksum knob actually gates the flag.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Continuity key is deterministic across re-parses and carries no PII.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Continuity check compares month-to-month keys.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Consolidate all three custodians into one holdings list.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gross − debt = net, and gross is the sum of position base values.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Suitability &amp;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Engine  ·  tests/test_suitability.py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12/12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The deterministic policy checks. The mandate decides what a breach MEANS; plus concentration, liquidity, unhedged-FX, hard regulatory blocks and instruction-diff.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single overweight equity book, evaluated under each mandate, yields the mandate-appropriate enforcement on the band breach.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balanced book inside every band produces no actionable breach.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single stock above the 10% single-security cap is caught; a diversified fund of the same weight is not.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Parked liquidity (money-market) is exempt from the single-position cap.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Below the min-liquid floor (here mostly illiquid alternatives) is flagged.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69080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11480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08736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Economic FX exposure above the max-unhedged cap is flagged.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Sanctioned instrument hard blocks even execution only.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Complex product appropriateness blocks when not allowed.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Client asked for a treasury sleeve; the proposal holds a corporate-credit bond fund of the wrong duration → a deviation flag.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Instruction diff satisfied when matched.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Worst enforcement ranking.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4069080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411480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408736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three-custodian sample book, under its advisory profile, lands on a 'flag' gate (bands breached, nothing hard-blocked).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Conversational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Engine  ·  tests/test_portfolio_qa.py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9/9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Routing picks the right deterministic tool from the phrasing; answers stay grounded in computed facts; the router never crashes on odd input.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'Net worth' routes to the totals tool.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An FX / currency question routes to the currency tool.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suitability / mandate question routes to the suitability tool.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'largest position' question routes to the concentration tool.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9417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666744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liquidity question routes to the liquidity tool.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965960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01168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1984248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A reconciliation question routes to the data-quality tool.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386584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43230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2404872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Every answer carries facts tied to the computed book.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807208"/>
            <a:ext cx="5440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85292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825496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deterministic briefing fact-sheet spans every domain.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3227832"/>
            <a:ext cx="544068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27355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3246120"/>
            <a:ext cx="4846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6203C"/>
                </a:solidFill>
                <a:latin typeface="Calibri"/>
              </a:rPr>
              <a:t>The router must always resolve to SOME tool — never crash on odd input.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Document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Deliverable  ·  tests/test_doc_extract.py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7/7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The research / other uploaders read text deterministically so content can be folded into the prompt as advisory context — never a source of figures.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9339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Plain text and Markdown read cleanly.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323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41401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HTML is stripped to readable text (tags removed).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529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834640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An .eml email body is extracted.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735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255264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CSV and JSON pass through as 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6941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675888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An unsupported file type fails gracefully (no crash).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69080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09651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Very large documents are truncated (MAX_CHARS) and marked, never dropped.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9704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3542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51713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extraction result always has the same shape.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Prompt &amp; narrative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Deliverable  ·  tests/test_narrative.py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8/8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The portable prompt bundles every input; the keyless commentary REFLECTS the documents (the v10 fix) while only ever quoting the computed numbers.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9339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prompt carries every block (FACTS, intake, holdings, docs, tactical).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323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41401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Document text is embedded verbatim in the prompt.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529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834640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Without documents, that content is absent from the prompt.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735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255264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FACTS block is valid JSON and holds the numbers.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6941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675888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v10 fix: documents change the deterministic commentary.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69080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09651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commentary quotes short excerpts of the tactical text and docs.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9704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3542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51713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keyless summary must use the model's own numbers verbatim and never invent a figure that isn't already somewhere in the computed model.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910328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9560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4937760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commentary carries the 'not investment advice' disclaimer.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Proposal deck 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Deliverable  ·  tests/test_generate_proposal.py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6/6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HTML / PPTX / PDF renderers agree, figures are copied from the model, and documents change every exported format.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9339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All three renderers (HTML/PPTX/PDF) produce valid output.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323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41401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deck shows the computed net-worth &amp; gross figures.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529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834640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commentary slide appears only when a narrative is set.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735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255264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v10 fix: documents change the HTML, PPTX and PDF exports.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6941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675888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With documents, the deck surfaces the client's liquidity event.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69080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09651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deck carries the 'not independently verified' disclaimer.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End-to-end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8CDDD"/>
                </a:solidFill>
                <a:latin typeface="Calibri"/>
              </a:rPr>
              <a:t>App  ·  tests/test_app_scenarios.py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14255" y="27432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2000" b="1">
                <a:solidFill>
                  <a:srgbClr val="7FD1A0"/>
                </a:solidFill>
                <a:latin typeface="Calibri"/>
              </a:rPr>
              <a:t>14/14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17A"/>
                </a:solidFill>
                <a:latin typeface="Calibri"/>
              </a:rPr>
              <a:t>Drive the real Streamlit app across the views a banker walks through: load samples, review each view, change the mandate &amp; tactical instructions — and never error.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9339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app boots with no book loaded.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86584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4323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41401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Each sample statement loads into the Overview view. (3×)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07208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5292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834640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Overview / Holdings / Suitability / Proposal all render. (4×)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27832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735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255264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Proposal view shows the assembled prompt and commentary.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69417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3675888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Tactical instructions flow into the on-screen prompt.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69080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4096512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Under discretionary, band breaches HARD-BLOCK; under advisory they only flag. The same book therefore reads differently on the Suitability view. (2×)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9704"/>
            <a:ext cx="10881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3542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517136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A single-custodian book still produces a proposal.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910328"/>
            <a:ext cx="10881360" cy="347472"/>
          </a:xfrm>
          <a:prstGeom prst="rect">
            <a:avLst/>
          </a:prstGeom>
          <a:solidFill>
            <a:srgbClr val="F4F6FB"/>
          </a:solidFill>
          <a:ln w="1270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95604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E7D52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4937760"/>
            <a:ext cx="10058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The Proposal view with no book degrades gracefully.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B08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How to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7FD1A0"/>
                </a:solidFill>
                <a:latin typeface="Calibri"/>
              </a:rPr>
              <a:t>python3 -m pytest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C8CDDD"/>
                </a:solidFill>
                <a:latin typeface="Calibri"/>
              </a:rPr>
              <a:t>python3 -m pytest tests/test_suitability.py -v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9AA4C4"/>
                </a:solidFill>
                <a:latin typeface="Calibri"/>
              </a:rPr>
              <a:t>65/65 passed  ·  offline, deterministic, repeatable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