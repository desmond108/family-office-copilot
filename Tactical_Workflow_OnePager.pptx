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MERIDIAN FAMILY OFFICE COPILOT · v7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A56"/>
                </a:solidFill>
                <a:latin typeface="Georgia"/>
              </a:rPr>
              <a:t>The tactical-instructions workflow,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What the copilot does the moment you confirm the sorted items — read left to 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88920" cy="265176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1 · CLIENT'S WORDS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In plain language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"gold below USD 4,000/oz"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"add Nasdaq after a 15–20% pullback"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"buy the bond fund in tranches"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"low fees, good liquidity"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6203C"/>
                </a:solidFill>
                <a:latin typeface="Consolas"/>
              </a:rPr>
              <a:t>"impact of rate hikes?"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5146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E6F1EB"/>
          </a:solidFill>
          <a:ln w="19050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2F6F57"/>
                </a:solidFill>
                <a:latin typeface="Calibri"/>
              </a:rPr>
              <a:t>2 · SORT + CONFIRM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The copilot types each ask; the analyst reviews and confirms in a table.</a:t>
            </a:r>
          </a:p>
          <a:p>
            <a:pPr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 i="0">
                <a:solidFill>
                  <a:srgbClr val="2F6F57"/>
                </a:solidFill>
                <a:latin typeface="Calibri"/>
              </a:rPr>
              <a:t>✓ typed &amp;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7" y="3191256"/>
            <a:ext cx="457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8" y="3191256"/>
            <a:ext cx="457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965192" cy="932688"/>
          </a:xfrm>
          <a:prstGeom prst="roundRect">
            <a:avLst>
              <a:gd name="adj" fmla="val 8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📡  Monitoring watchlist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Level-based triggers to watch the book against.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6203C"/>
                </a:solidFill>
                <a:latin typeface="Consolas"/>
              </a:rPr>
              <a:t>S&amp;P 500 · </a:t>
            </a:r>
            <a:r>
              <a:rPr sz="1050" b="1">
                <a:solidFill>
                  <a:srgbClr val="9C7422"/>
                </a:solidFill>
                <a:latin typeface="Consolas"/>
              </a:rPr>
              <a:t>−15/−20%</a:t>
            </a:r>
            <a:r>
              <a:rPr sz="1050" b="1">
                <a:solidFill>
                  <a:srgbClr val="16203C"/>
                </a:solidFill>
                <a:latin typeface="Consolas"/>
              </a:rPr>
              <a:t>     Gold · </a:t>
            </a:r>
            <a:r>
              <a:rPr sz="1050" b="1">
                <a:solidFill>
                  <a:srgbClr val="9C7422"/>
                </a:solidFill>
                <a:latin typeface="Consolas"/>
              </a:rPr>
              <a:t>&lt; $4,000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1920240"/>
            <a:ext cx="208483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50">
                <a:solidFill>
                  <a:srgbClr val="9C7422"/>
                </a:solidFill>
                <a:latin typeface="Calibri"/>
              </a:rPr>
              <a:t>LIVES IN THE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962656"/>
            <a:ext cx="4965192" cy="932688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🧭  Analyst guidance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Intent that shapes the written advice — never the figures.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onsolas"/>
              </a:rPr>
              <a:t>Execution style · selection criteria · open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1" y="3054096"/>
            <a:ext cx="2788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40">
                <a:solidFill>
                  <a:srgbClr val="838CAD"/>
                </a:solidFill>
                <a:latin typeface="Calibri"/>
              </a:rPr>
              <a:t>PROPOSAL DECK · CIO COMMENTARY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096511"/>
            <a:ext cx="4965192" cy="932688"/>
          </a:xfrm>
          <a:prstGeom prst="roundRect">
            <a:avLst>
              <a:gd name="adj" fmla="val 8000"/>
            </a:avLst>
          </a:prstGeom>
          <a:solidFill>
            <a:srgbClr val="E6F1EB"/>
          </a:solidFill>
          <a:ln w="15875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3C"/>
                </a:solidFill>
                <a:latin typeface="Calibri"/>
              </a:rPr>
              <a:t>📥  Proposed allocation</a:t>
            </a:r>
          </a:p>
          <a:p>
            <a:pPr algn="l">
              <a:lnSpc>
                <a:spcPct val="104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alibri"/>
              </a:rPr>
              <a:t>If the client stated weights → offered to fill the sleeves.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7517A"/>
                </a:solidFill>
                <a:latin typeface="Consolas"/>
              </a:rPr>
              <a:t>Nasdaq 20% + S&amp;P 30% → equity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4187951"/>
            <a:ext cx="208483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50">
                <a:solidFill>
                  <a:srgbClr val="2F6F57"/>
                </a:solidFill>
                <a:latin typeface="Calibri"/>
              </a:rPr>
              <a:t>YOU APPLY / IGNORE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191256"/>
            <a:ext cx="4572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5912" cy="914400"/>
          </a:xfrm>
          <a:prstGeom prst="roundRect">
            <a:avLst>
              <a:gd name="adj" fmla="val 5000"/>
            </a:avLst>
          </a:prstGeom>
          <a:solidFill>
            <a:srgbClr val="1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10058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B0872A"/>
                </a:solidFill>
                <a:latin typeface="Calibri"/>
              </a:rPr>
              <a:t>THE GUARDRAIL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450" b="0" i="1">
                <a:solidFill>
                  <a:srgbClr val="FFFFFF"/>
                </a:solidFill>
                <a:latin typeface="Georgia"/>
              </a:rPr>
              <a:t>Guidance shapes the narrative and the watchlist — never a computed number. Every figure stays derived from the client's real holdings.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