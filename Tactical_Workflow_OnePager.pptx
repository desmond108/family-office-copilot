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spc="160">
                <a:solidFill>
                  <a:srgbClr val="B0872A"/>
                </a:solidFill>
                <a:latin typeface="Calibri"/>
              </a:rPr>
              <a:t>MERIDIAN FAMILY OFFICE COPILOT · v8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41248"/>
            <a:ext cx="1069848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E2A56"/>
                </a:solidFill>
                <a:latin typeface="Georgia"/>
              </a:rPr>
              <a:t>The tactical-instructions workflow, 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72768"/>
            <a:ext cx="106984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17A"/>
                </a:solidFill>
                <a:latin typeface="Calibri"/>
              </a:rPr>
              <a:t>What the copilot does the moment you confirm the sorted items — read left to right.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03120"/>
            <a:ext cx="2788920" cy="2651760"/>
          </a:xfrm>
          <a:prstGeom prst="roundRect">
            <a:avLst>
              <a:gd name="adj" fmla="val 6000"/>
            </a:avLst>
          </a:prstGeom>
          <a:solidFill>
            <a:srgbClr val="EEF0F6"/>
          </a:solidFill>
          <a:ln w="15875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0584" bIns="100584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80">
                <a:solidFill>
                  <a:srgbClr val="9C7422"/>
                </a:solidFill>
                <a:latin typeface="Calibri"/>
              </a:rPr>
              <a:t>1 · CLIENT'S WORDS</a:t>
            </a:r>
          </a:p>
          <a:p>
            <a:pPr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47517A"/>
                </a:solidFill>
                <a:latin typeface="Calibri"/>
              </a:rPr>
              <a:t>In plain language</a:t>
            </a:r>
          </a:p>
          <a:p>
            <a:pPr algn="l">
              <a:lnSpc>
                <a:spcPct val="105000"/>
              </a:lnSpc>
              <a:spcBef>
                <a:spcPts val="1100"/>
              </a:spcBef>
              <a:spcAft>
                <a:spcPts val="0"/>
              </a:spcAft>
            </a:pPr>
            <a:r>
              <a:rPr sz="1050" b="0" i="0">
                <a:solidFill>
                  <a:srgbClr val="16203C"/>
                </a:solidFill>
                <a:latin typeface="Consolas"/>
              </a:rPr>
              <a:t>"gold below USD 4,000/oz"</a:t>
            </a:r>
          </a:p>
          <a:p>
            <a:pPr algn="l">
              <a:lnSpc>
                <a:spcPct val="10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 i="0">
                <a:solidFill>
                  <a:srgbClr val="16203C"/>
                </a:solidFill>
                <a:latin typeface="Consolas"/>
              </a:rPr>
              <a:t>"add Nasdaq after a 15–20% pullback"</a:t>
            </a:r>
          </a:p>
          <a:p>
            <a:pPr algn="l">
              <a:lnSpc>
                <a:spcPct val="10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 i="0">
                <a:solidFill>
                  <a:srgbClr val="16203C"/>
                </a:solidFill>
                <a:latin typeface="Consolas"/>
              </a:rPr>
              <a:t>"buy the bond fund in tranches"</a:t>
            </a:r>
          </a:p>
          <a:p>
            <a:pPr algn="l">
              <a:lnSpc>
                <a:spcPct val="10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 i="0">
                <a:solidFill>
                  <a:srgbClr val="16203C"/>
                </a:solidFill>
                <a:latin typeface="Consolas"/>
              </a:rPr>
              <a:t>"low fees, good liquidity"</a:t>
            </a:r>
          </a:p>
          <a:p>
            <a:pPr algn="l">
              <a:lnSpc>
                <a:spcPct val="10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 i="0">
                <a:solidFill>
                  <a:srgbClr val="16203C"/>
                </a:solidFill>
                <a:latin typeface="Consolas"/>
              </a:rPr>
              <a:t>"impact of rate hikes?"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7639" y="2514600"/>
            <a:ext cx="2057400" cy="1828800"/>
          </a:xfrm>
          <a:prstGeom prst="roundRect">
            <a:avLst>
              <a:gd name="adj" fmla="val 7000"/>
            </a:avLst>
          </a:prstGeom>
          <a:solidFill>
            <a:srgbClr val="E6F1EB"/>
          </a:solidFill>
          <a:ln w="19050">
            <a:solidFill>
              <a:srgbClr val="2F6F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0584" bIns="100584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80">
                <a:solidFill>
                  <a:srgbClr val="2F6F57"/>
                </a:solidFill>
                <a:latin typeface="Calibri"/>
              </a:rPr>
              <a:t>2 · SORT + CONFIRM</a:t>
            </a:r>
          </a:p>
          <a:p>
            <a:pPr algn="l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</a:pPr>
            <a:r>
              <a:rPr sz="1200" b="0" i="0">
                <a:solidFill>
                  <a:srgbClr val="47517A"/>
                </a:solidFill>
                <a:latin typeface="Calibri"/>
              </a:rPr>
              <a:t>The copilot types each ask; the analyst reviews and confirms in a table.</a:t>
            </a:r>
          </a:p>
          <a:p>
            <a:pPr algn="l">
              <a:lnSpc>
                <a:spcPct val="100000"/>
              </a:lnSpc>
              <a:spcBef>
                <a:spcPts val="1100"/>
              </a:spcBef>
              <a:spcAft>
                <a:spcPts val="0"/>
              </a:spcAft>
            </a:pPr>
            <a:r>
              <a:rPr sz="1200" b="1" i="0">
                <a:solidFill>
                  <a:srgbClr val="2F6F57"/>
                </a:solidFill>
                <a:latin typeface="Calibri"/>
              </a:rPr>
              <a:t>✓ typed &amp; confirmed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84447" y="3191256"/>
            <a:ext cx="457200" cy="4754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C8CDDD"/>
                </a:solidFill>
                <a:latin typeface="Calibri"/>
              </a:rPr>
              <a:t>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9048" y="3191256"/>
            <a:ext cx="457200" cy="4754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C8CDDD"/>
                </a:solidFill>
                <a:latin typeface="Calibri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1828800"/>
            <a:ext cx="4965192" cy="932688"/>
          </a:xfrm>
          <a:prstGeom prst="roundRect">
            <a:avLst>
              <a:gd name="adj" fmla="val 8000"/>
            </a:avLst>
          </a:prstGeom>
          <a:solidFill>
            <a:srgbClr val="F7EFDC"/>
          </a:solidFill>
          <a:ln w="19050">
            <a:solidFill>
              <a:srgbClr val="B08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0584" bIns="100584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6203C"/>
                </a:solidFill>
                <a:latin typeface="Calibri"/>
              </a:rPr>
              <a:t>📡  Monitoring watchlist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spcAft>
                <a:spcPts val="0"/>
              </a:spcAft>
            </a:pPr>
            <a:r>
              <a:rPr sz="1050" b="0" i="0">
                <a:solidFill>
                  <a:srgbClr val="47517A"/>
                </a:solidFill>
                <a:latin typeface="Calibri"/>
              </a:rPr>
              <a:t>Level-based triggers to watch the book against.</a:t>
            </a:r>
          </a:p>
          <a:p>
            <a:pPr>
              <a:spcBef>
                <a:spcPts val="400"/>
              </a:spcBef>
            </a:pPr>
            <a:r>
              <a:rPr sz="1050" b="1">
                <a:solidFill>
                  <a:srgbClr val="16203C"/>
                </a:solidFill>
                <a:latin typeface="Consolas"/>
              </a:rPr>
              <a:t>S&amp;P 500 · </a:t>
            </a:r>
            <a:r>
              <a:rPr sz="1050" b="1">
                <a:solidFill>
                  <a:srgbClr val="9C7422"/>
                </a:solidFill>
                <a:latin typeface="Consolas"/>
              </a:rPr>
              <a:t>−15/−20%</a:t>
            </a:r>
            <a:r>
              <a:rPr sz="1050" b="1">
                <a:solidFill>
                  <a:srgbClr val="16203C"/>
                </a:solidFill>
                <a:latin typeface="Consolas"/>
              </a:rPr>
              <a:t>     Gold · </a:t>
            </a:r>
            <a:r>
              <a:rPr sz="1050" b="1">
                <a:solidFill>
                  <a:srgbClr val="9C7422"/>
                </a:solidFill>
                <a:latin typeface="Consolas"/>
              </a:rPr>
              <a:t>&lt; $4,000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62872" y="1920240"/>
            <a:ext cx="2084831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50">
                <a:solidFill>
                  <a:srgbClr val="9C7422"/>
                </a:solidFill>
                <a:latin typeface="Calibri"/>
              </a:rPr>
              <a:t>LIVES IN THE COPILOT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2962656"/>
            <a:ext cx="4965192" cy="932688"/>
          </a:xfrm>
          <a:prstGeom prst="roundRect">
            <a:avLst>
              <a:gd name="adj" fmla="val 8000"/>
            </a:avLst>
          </a:prstGeom>
          <a:solidFill>
            <a:srgbClr val="EEF0F6"/>
          </a:solidFill>
          <a:ln w="15875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0584" bIns="100584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6203C"/>
                </a:solidFill>
                <a:latin typeface="Calibri"/>
              </a:rPr>
              <a:t>🧭  Analyst guidance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spcAft>
                <a:spcPts val="0"/>
              </a:spcAft>
            </a:pPr>
            <a:r>
              <a:rPr sz="1050" b="0" i="0">
                <a:solidFill>
                  <a:srgbClr val="47517A"/>
                </a:solidFill>
                <a:latin typeface="Calibri"/>
              </a:rPr>
              <a:t>Intent that shapes the written advice — never the figures.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7517A"/>
                </a:solidFill>
                <a:latin typeface="Consolas"/>
              </a:rPr>
              <a:t>Execution style · selection criteria · open questions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31351" y="3054096"/>
            <a:ext cx="27889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40">
                <a:solidFill>
                  <a:srgbClr val="838CAD"/>
                </a:solidFill>
                <a:latin typeface="Calibri"/>
              </a:rPr>
              <a:t>PROPOSAL DECK · CIO COMMENTARY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92240" y="4096511"/>
            <a:ext cx="4965192" cy="932688"/>
          </a:xfrm>
          <a:prstGeom prst="roundRect">
            <a:avLst>
              <a:gd name="adj" fmla="val 8000"/>
            </a:avLst>
          </a:prstGeom>
          <a:solidFill>
            <a:srgbClr val="E6F1EB"/>
          </a:solidFill>
          <a:ln w="15875">
            <a:solidFill>
              <a:srgbClr val="2F6F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0584" bIns="100584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6203C"/>
                </a:solidFill>
                <a:latin typeface="Calibri"/>
              </a:rPr>
              <a:t>📥  Proposed allocation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spcAft>
                <a:spcPts val="0"/>
              </a:spcAft>
            </a:pPr>
            <a:r>
              <a:rPr sz="1050" b="0" i="0">
                <a:solidFill>
                  <a:srgbClr val="47517A"/>
                </a:solidFill>
                <a:latin typeface="Calibri"/>
              </a:rPr>
              <a:t>If the client stated weights → offered to fill the sleeves.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7517A"/>
                </a:solidFill>
                <a:latin typeface="Consolas"/>
              </a:rPr>
              <a:t>Nasdaq 20% + S&amp;P 30% → equity 50%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62872" y="4187951"/>
            <a:ext cx="2084831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50">
                <a:solidFill>
                  <a:srgbClr val="2F6F57"/>
                </a:solidFill>
                <a:latin typeface="Calibri"/>
              </a:rPr>
              <a:t>YOU APPLY / IGNORE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9048" y="3191256"/>
            <a:ext cx="457200" cy="4754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C8CDDD"/>
                </a:solidFill>
                <a:latin typeface="Calibri"/>
              </a:rPr>
              <a:t>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486400"/>
            <a:ext cx="10725912" cy="914400"/>
          </a:xfrm>
          <a:prstGeom prst="roundRect">
            <a:avLst>
              <a:gd name="adj" fmla="val 5000"/>
            </a:avLst>
          </a:prstGeom>
          <a:solidFill>
            <a:srgbClr val="13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0584" bIns="100584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20">
                <a:solidFill>
                  <a:srgbClr val="B0872A"/>
                </a:solidFill>
                <a:latin typeface="Calibri"/>
              </a:rPr>
              <a:t>THE GUARDRAIL · v8 TIERED</a:t>
            </a:r>
          </a:p>
          <a:p>
            <a:pPr algn="l">
              <a:lnSpc>
                <a:spcPct val="108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 i="1">
                <a:solidFill>
                  <a:srgbClr val="FFFFFF"/>
                </a:solidFill>
                <a:latin typeface="Georgia"/>
              </a:rPr>
              <a:t>Each item is tiered 🔒 enforced / 📡 monitored / 📝 advisory. An enforced price trigger can gate a rebalance buy (→ hold) against a sourced live price; everything else shapes the narrative &amp; watchlist. A client's condition can gate or flag a trade — never invent one.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