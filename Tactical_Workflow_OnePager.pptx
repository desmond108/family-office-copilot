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60">
                <a:solidFill>
                  <a:srgbClr val="B0872A"/>
                </a:solidFill>
                <a:latin typeface="Calibri"/>
              </a:rPr>
              <a:t>MERIDIAN FAMILY OFFICE COPILOT · v6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E2A56"/>
                </a:solidFill>
                <a:latin typeface="Georgia"/>
              </a:rPr>
              <a:t>The tactical-instructions workflow,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72768"/>
            <a:ext cx="106984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47517A"/>
                </a:solidFill>
                <a:latin typeface="Calibri"/>
              </a:rPr>
              <a:t>What the copilot does the moment you confirm the sorted items — read left to right.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2788920" cy="265176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5875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9C7422"/>
                </a:solidFill>
                <a:latin typeface="Calibri"/>
              </a:rPr>
              <a:t>1 · CLIENT'S WORDS</a:t>
            </a:r>
          </a:p>
          <a:p>
            <a:pPr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47517A"/>
                </a:solidFill>
                <a:latin typeface="Calibri"/>
              </a:rPr>
              <a:t>In plain language</a:t>
            </a:r>
          </a:p>
          <a:p>
            <a:pPr algn="l">
              <a:lnSpc>
                <a:spcPct val="105000"/>
              </a:lnSpc>
              <a:spcBef>
                <a:spcPts val="11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"gold below USD 4,000/oz"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"add Nasdaq after a 15–20% pullback"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"buy the bond fund in tranches"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"low fees, good liquidity"</a:t>
            </a:r>
          </a:p>
          <a:p>
            <a:pPr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 i="0">
                <a:solidFill>
                  <a:srgbClr val="16203C"/>
                </a:solidFill>
                <a:latin typeface="Consolas"/>
              </a:rPr>
              <a:t>"impact of rate hikes?"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2514600"/>
            <a:ext cx="2057400" cy="1828800"/>
          </a:xfrm>
          <a:prstGeom prst="roundRect">
            <a:avLst>
              <a:gd name="adj" fmla="val 7000"/>
            </a:avLst>
          </a:prstGeom>
          <a:solidFill>
            <a:srgbClr val="E6F1EB"/>
          </a:solidFill>
          <a:ln w="19050">
            <a:solidFill>
              <a:srgbClr val="2F6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80">
                <a:solidFill>
                  <a:srgbClr val="2F6F57"/>
                </a:solidFill>
                <a:latin typeface="Calibri"/>
              </a:rPr>
              <a:t>2 · SORT + CONFIRM</a:t>
            </a:r>
          </a:p>
          <a:p>
            <a:pPr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</a:pPr>
            <a:r>
              <a:rPr sz="1200" b="0" i="0">
                <a:solidFill>
                  <a:srgbClr val="47517A"/>
                </a:solidFill>
                <a:latin typeface="Calibri"/>
              </a:rPr>
              <a:t>The copilot types each ask; the analyst reviews and confirms in a table.</a:t>
            </a:r>
          </a:p>
          <a:p>
            <a:pPr algn="l">
              <a:lnSpc>
                <a:spcPct val="100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2F6F57"/>
                </a:solidFill>
                <a:latin typeface="Calibri"/>
              </a:rPr>
              <a:t>✓ typed &amp; confirmed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84447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9048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800"/>
            <a:ext cx="4965192" cy="1481328"/>
          </a:xfrm>
          <a:prstGeom prst="roundRect">
            <a:avLst>
              <a:gd name="adj" fmla="val 8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3C"/>
                </a:solidFill>
                <a:latin typeface="Calibri"/>
              </a:rPr>
              <a:t>📡  Monitoring watchlist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47517A"/>
                </a:solidFill>
                <a:latin typeface="Calibri"/>
              </a:rPr>
              <a:t>Level-based triggers to watch the book against.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6203C"/>
                </a:solidFill>
                <a:latin typeface="Consolas"/>
              </a:rPr>
              <a:t>S&amp;P 500 · </a:t>
            </a:r>
            <a:r>
              <a:rPr sz="1100" b="1">
                <a:solidFill>
                  <a:srgbClr val="9C7422"/>
                </a:solidFill>
                <a:latin typeface="Consolas"/>
              </a:rPr>
              <a:t>−15/−20%</a:t>
            </a:r>
            <a:r>
              <a:rPr sz="1100" b="1">
                <a:solidFill>
                  <a:srgbClr val="16203C"/>
                </a:solidFill>
                <a:latin typeface="Consolas"/>
              </a:rPr>
              <a:t>     Gold · </a:t>
            </a:r>
            <a:r>
              <a:rPr sz="1100" b="1">
                <a:solidFill>
                  <a:srgbClr val="9C7422"/>
                </a:solidFill>
                <a:latin typeface="Consolas"/>
              </a:rPr>
              <a:t>&lt; $4,000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1432" y="1938528"/>
            <a:ext cx="21488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9C7422"/>
                </a:solidFill>
                <a:latin typeface="Calibri"/>
              </a:rPr>
              <a:t>LIVES IN THE COPILOT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547872"/>
            <a:ext cx="4965192" cy="1481328"/>
          </a:xfrm>
          <a:prstGeom prst="roundRect">
            <a:avLst>
              <a:gd name="adj" fmla="val 8000"/>
            </a:avLst>
          </a:prstGeom>
          <a:solidFill>
            <a:srgbClr val="EEF0F6"/>
          </a:solidFill>
          <a:ln w="15875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203C"/>
                </a:solidFill>
                <a:latin typeface="Calibri"/>
              </a:rPr>
              <a:t>🧭  Analyst guidance</a:t>
            </a:r>
          </a:p>
          <a:p>
            <a:pPr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47517A"/>
                </a:solidFill>
                <a:latin typeface="Calibri"/>
              </a:rPr>
              <a:t>Intent that shapes the written advice — never the figures.</a:t>
            </a:r>
          </a:p>
          <a:p>
            <a:pPr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47517A"/>
                </a:solidFill>
                <a:latin typeface="Consolas"/>
              </a:rPr>
              <a:t>Execution style · selection criteria · open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3657600"/>
            <a:ext cx="2880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50">
                <a:solidFill>
                  <a:srgbClr val="838CAD"/>
                </a:solidFill>
                <a:latin typeface="Calibri"/>
              </a:rPr>
              <a:t>PROPOSAL DECK · CIO COMMENTARY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9048" y="3191256"/>
            <a:ext cx="457200" cy="4754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C8CDDD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486400"/>
            <a:ext cx="10725912" cy="914400"/>
          </a:xfrm>
          <a:prstGeom prst="roundRect">
            <a:avLst>
              <a:gd name="adj" fmla="val 5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0584" bIns="10058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20">
                <a:solidFill>
                  <a:srgbClr val="B0872A"/>
                </a:solidFill>
                <a:latin typeface="Calibri"/>
              </a:rPr>
              <a:t>THE GUARDRAIL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1450" b="0" i="1">
                <a:solidFill>
                  <a:srgbClr val="FFFFFF"/>
                </a:solidFill>
                <a:latin typeface="Georgia"/>
              </a:rPr>
              <a:t>Guidance shapes the narrative and the watchlist — never a computed number. Every figure stays derived from the client's real holdings.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