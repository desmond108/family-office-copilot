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0872A"/>
                </a:solidFill>
                <a:latin typeface="Calibri"/>
              </a:rPr>
              <a:t>MERIDIAN FAMILY OFFICE COPILOT · v10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8813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2A56"/>
                </a:solidFill>
                <a:latin typeface="Georgia"/>
              </a:rPr>
              <a:t>How do the client’s tactical instructions reach the proposal?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57400"/>
            <a:ext cx="10725912" cy="1143000"/>
          </a:xfrm>
          <a:prstGeom prst="roundRect">
            <a:avLst>
              <a:gd name="adj" fmla="val 6000"/>
            </a:avLst>
          </a:prstGeom>
          <a:solidFill>
            <a:srgbClr val="EEF0F6"/>
          </a:solidFill>
          <a:ln w="1905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2A56"/>
                </a:solidFill>
                <a:latin typeface="Calibri"/>
              </a:rPr>
              <a:t>1.  </a:t>
            </a:r>
            <a:r>
              <a:rPr sz="1500" b="1">
                <a:solidFill>
                  <a:srgbClr val="1E2A56"/>
                </a:solidFill>
                <a:latin typeface="Calibri"/>
              </a:rPr>
              <a:t>Pass through — verbatim</a:t>
            </a:r>
            <a:r>
              <a:rPr sz="1200" b="0">
                <a:solidFill>
                  <a:srgbClr val="47517A"/>
                </a:solidFill>
                <a:latin typeface="Calibri"/>
              </a:rPr>
              <a:t>   — no sorting, no classifying</a:t>
            </a:r>
          </a:p>
          <a:p>
            <a:pPr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client’s tactical text goes straight into the prompt, unedited — together with the intake parameters, the parsed holdings + statement source, and the research / other documents in full.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19856"/>
            <a:ext cx="10725912" cy="1143000"/>
          </a:xfrm>
          <a:prstGeom prst="roundRect">
            <a:avLst>
              <a:gd name="adj" fmla="val 6000"/>
            </a:avLst>
          </a:prstGeom>
          <a:solidFill>
            <a:srgbClr val="F7EFDC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C7422"/>
                </a:solidFill>
                <a:latin typeface="Calibri"/>
              </a:rPr>
              <a:t>2.  </a:t>
            </a:r>
            <a:r>
              <a:rPr sz="1500" b="1">
                <a:solidFill>
                  <a:srgbClr val="9C7422"/>
                </a:solidFill>
                <a:latin typeface="Calibri"/>
              </a:rPr>
              <a:t>One self-contained prompt</a:t>
            </a:r>
            <a:r>
              <a:rPr sz="1200" b="0">
                <a:solidFill>
                  <a:srgbClr val="47517A"/>
                </a:solidFill>
                <a:latin typeface="Calibri"/>
              </a:rPr>
              <a:t>   — the transparency surface</a:t>
            </a:r>
          </a:p>
          <a:p>
            <a:pPr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9C7422"/>
                </a:solidFill>
                <a:latin typeface="Calibri"/>
              </a:rPr>
              <a:t>Shown on the Proposal page — editable, copyable, downloadable. Paste it into ANY AI model to reproduce the proposal and compare outputs. Generate in-app runs the live AI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82312"/>
            <a:ext cx="10725912" cy="1143000"/>
          </a:xfrm>
          <a:prstGeom prst="roundRect">
            <a:avLst>
              <a:gd name="adj" fmla="val 6000"/>
            </a:avLst>
          </a:prstGeom>
          <a:solidFill>
            <a:srgbClr val="E6F1EB"/>
          </a:solidFill>
          <a:ln w="19050">
            <a:solidFill>
              <a:srgbClr val="2F6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6F57"/>
                </a:solidFill>
                <a:latin typeface="Calibri"/>
              </a:rPr>
              <a:t>3.  </a:t>
            </a:r>
            <a:r>
              <a:rPr sz="1500" b="1">
                <a:solidFill>
                  <a:srgbClr val="2F6F57"/>
                </a:solidFill>
                <a:latin typeface="Calibri"/>
              </a:rPr>
              <a:t>Numbers stay deterministic</a:t>
            </a:r>
            <a:r>
              <a:rPr sz="1200" b="0">
                <a:solidFill>
                  <a:srgbClr val="47517A"/>
                </a:solidFill>
                <a:latin typeface="Calibri"/>
              </a:rPr>
              <a:t>   — the guardrail</a:t>
            </a:r>
          </a:p>
          <a:p>
            <a:pPr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Every figure is computed by the engine (the FACTS block). The AI writes prose only; qualitative claims from the documents are context, not independently verified.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943600"/>
            <a:ext cx="10725912" cy="868680"/>
          </a:xfrm>
          <a:prstGeom prst="roundRect">
            <a:avLst>
              <a:gd name="adj" fmla="val 6000"/>
            </a:avLst>
          </a:prstGeom>
          <a:solidFill>
            <a:srgbClr val="13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0872A"/>
                </a:solidFill>
                <a:latin typeface="Calibri"/>
              </a:rPr>
              <a:t>What changed in v10:  </a:t>
            </a:r>
            <a:r>
              <a:rPr sz="1150" b="0">
                <a:solidFill>
                  <a:srgbClr val="FFFFFF"/>
                </a:solidFill>
                <a:latin typeface="Calibri"/>
              </a:rPr>
              <a:t>the copilot no longer sorts instructions into typed items, tags enforcement tiers, or gates a trade on a price trigger. It hands the raw inputs to the AI Model in one prompt and lets it analyse them — while the engine still computes every number, so nothing is invented. The UI is model-agnostic: it always reads “AI Model”.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872A"/>
                </a:solidFill>
                <a:latin typeface="Calibri"/>
              </a:rPr>
              <a:t>MERIDIAN FAMILY OFFICE COPILOT · v10 ·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338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E2A56"/>
                </a:solidFill>
                <a:latin typeface="Georgia"/>
              </a:rPr>
              <a:t>Tactical instructions — who does what, and when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868680" cy="347472"/>
          </a:xfrm>
          <a:prstGeom prst="roundRect">
            <a:avLst>
              <a:gd name="adj" fmla="val 4000"/>
            </a:avLst>
          </a:prstGeom>
          <a:solidFill>
            <a:srgbClr val="13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440" y="1371600"/>
            <a:ext cx="2468880" cy="347472"/>
          </a:xfrm>
          <a:prstGeom prst="roundRect">
            <a:avLst>
              <a:gd name="adj" fmla="val 4000"/>
            </a:avLst>
          </a:prstGeom>
          <a:solidFill>
            <a:srgbClr val="13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872A"/>
                </a:solidFill>
                <a:latin typeface="Consolas"/>
              </a:rPr>
              <a:t>A  </a:t>
            </a:r>
            <a:r>
              <a:rPr sz="1100" b="1">
                <a:solidFill>
                  <a:srgbClr val="FFFFFF"/>
                </a:solidFill>
                <a:latin typeface="Calibri"/>
              </a:rPr>
              <a:t>Set profile &amp; policy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371600"/>
            <a:ext cx="2194560" cy="347472"/>
          </a:xfrm>
          <a:prstGeom prst="roundRect">
            <a:avLst>
              <a:gd name="adj" fmla="val 4000"/>
            </a:avLst>
          </a:prstGeom>
          <a:solidFill>
            <a:srgbClr val="13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872A"/>
                </a:solidFill>
                <a:latin typeface="Consolas"/>
              </a:rPr>
              <a:t>B  </a:t>
            </a:r>
            <a:r>
              <a:rPr sz="1100" b="1">
                <a:solidFill>
                  <a:srgbClr val="FFFFFF"/>
                </a:solidFill>
                <a:latin typeface="Calibri"/>
              </a:rPr>
              <a:t>Capture inputs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71600"/>
            <a:ext cx="2514600" cy="347472"/>
          </a:xfrm>
          <a:prstGeom prst="roundRect">
            <a:avLst>
              <a:gd name="adj" fmla="val 4000"/>
            </a:avLst>
          </a:prstGeom>
          <a:solidFill>
            <a:srgbClr val="13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872A"/>
                </a:solidFill>
                <a:latin typeface="Consolas"/>
              </a:rPr>
              <a:t>C  </a:t>
            </a:r>
            <a:r>
              <a:rPr sz="1100" b="1">
                <a:solidFill>
                  <a:srgbClr val="FFFFFF"/>
                </a:solidFill>
                <a:latin typeface="Calibri"/>
              </a:rPr>
              <a:t>Compute · deterministic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371600"/>
            <a:ext cx="3474720" cy="347472"/>
          </a:xfrm>
          <a:prstGeom prst="roundRect">
            <a:avLst>
              <a:gd name="adj" fmla="val 4000"/>
            </a:avLst>
          </a:prstGeom>
          <a:solidFill>
            <a:srgbClr val="13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872A"/>
                </a:solidFill>
                <a:latin typeface="Consolas"/>
              </a:rPr>
              <a:t>D  </a:t>
            </a:r>
            <a:r>
              <a:rPr sz="1100" b="1">
                <a:solidFill>
                  <a:srgbClr val="FFFFFF"/>
                </a:solidFill>
                <a:latin typeface="Calibri"/>
              </a:rPr>
              <a:t>Assemble → generate → deliver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755648"/>
            <a:ext cx="10652760" cy="1078992"/>
          </a:xfrm>
          <a:prstGeom prst="roundRect">
            <a:avLst>
              <a:gd name="adj" fmla="val 1000"/>
            </a:avLst>
          </a:prstGeom>
          <a:solidFill>
            <a:srgbClr val="EEF2FB"/>
          </a:solidFill>
          <a:ln w="9525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755648"/>
            <a:ext cx="868680" cy="1078992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A56"/>
                </a:solidFill>
                <a:latin typeface="Calibri"/>
              </a:rPr>
              <a:t>Client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838CAD"/>
                </a:solidFill>
                <a:latin typeface="Calibri"/>
              </a:rPr>
              <a:t>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889504"/>
            <a:ext cx="10652760" cy="2249424"/>
          </a:xfrm>
          <a:prstGeom prst="roundRect">
            <a:avLst>
              <a:gd name="adj" fmla="val 1000"/>
            </a:avLst>
          </a:prstGeom>
          <a:solidFill>
            <a:srgbClr val="FBF6E9"/>
          </a:solidFill>
          <a:ln w="9525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2889504"/>
            <a:ext cx="868680" cy="224942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C7422"/>
                </a:solidFill>
                <a:latin typeface="Calibri"/>
              </a:rPr>
              <a:t>You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838CAD"/>
                </a:solidFill>
                <a:latin typeface="Calibri"/>
              </a:rPr>
              <a:t>ANALYST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5193792"/>
            <a:ext cx="10652760" cy="1371600"/>
          </a:xfrm>
          <a:prstGeom prst="roundRect">
            <a:avLst>
              <a:gd name="adj" fmla="val 1000"/>
            </a:avLst>
          </a:prstGeom>
          <a:solidFill>
            <a:srgbClr val="EEF0F6"/>
          </a:solidFill>
          <a:ln w="9525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5193792"/>
            <a:ext cx="868680" cy="137160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7517A"/>
                </a:solidFill>
                <a:latin typeface="Calibri"/>
              </a:rPr>
              <a:t>Copilot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838CAD"/>
                </a:solidFill>
                <a:latin typeface="Calibri"/>
              </a:rPr>
              <a:t>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3048" y="1938528"/>
            <a:ext cx="1975104" cy="7132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CA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3C"/>
                </a:solidFill>
                <a:latin typeface="Calibri"/>
              </a:rPr>
              <a:t>Gives instructions + documents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47517A"/>
                </a:solidFill>
                <a:latin typeface="Calibri"/>
              </a:rPr>
              <a:t>“gold below $4,000” · statements · 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44168" y="3108960"/>
            <a:ext cx="2249424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C7422"/>
                </a:solidFill>
                <a:latin typeface="Calibri"/>
              </a:rPr>
              <a:t>1 · </a:t>
            </a:r>
            <a:r>
              <a:rPr sz="1000" b="1">
                <a:solidFill>
                  <a:srgbClr val="16203C"/>
                </a:solidFill>
                <a:latin typeface="Calibri"/>
              </a:rPr>
              <a:t>Set mandate, risk &amp; 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44168" y="4114800"/>
            <a:ext cx="2249424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C7422"/>
                </a:solidFill>
                <a:latin typeface="Calibri"/>
              </a:rPr>
              <a:t>2 · </a:t>
            </a:r>
            <a:r>
              <a:rPr sz="1000" b="1">
                <a:solidFill>
                  <a:srgbClr val="16203C"/>
                </a:solidFill>
                <a:latin typeface="Calibri"/>
              </a:rPr>
              <a:t>Set allocation targets &amp; limits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830" b="0">
                <a:solidFill>
                  <a:srgbClr val="47517A"/>
                </a:solidFill>
                <a:latin typeface="Calibri"/>
              </a:rPr>
              <a:t>limits always manual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13048" y="3438144"/>
            <a:ext cx="1975104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C7422"/>
                </a:solidFill>
                <a:latin typeface="Calibri"/>
              </a:rPr>
              <a:t>3 · </a:t>
            </a:r>
            <a:r>
              <a:rPr sz="1000" b="1">
                <a:solidFill>
                  <a:srgbClr val="16203C"/>
                </a:solidFill>
                <a:latin typeface="Calibri"/>
              </a:rPr>
              <a:t>Paste tactical text (verbatim) + upload documents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47517A"/>
                </a:solidFill>
                <a:latin typeface="Calibri"/>
              </a:rPr>
              <a:t>the client’s words, unedited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8" y="3575304"/>
            <a:ext cx="2295144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C7422"/>
                </a:solidFill>
                <a:latin typeface="Calibri"/>
              </a:rPr>
              <a:t>4 · </a:t>
            </a:r>
            <a:r>
              <a:rPr sz="1000" b="1">
                <a:solidFill>
                  <a:srgbClr val="16203C"/>
                </a:solidFill>
                <a:latin typeface="Calibri"/>
              </a:rPr>
              <a:t>Analyse ▸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830" b="0">
                <a:solidFill>
                  <a:srgbClr val="47517A"/>
                </a:solidFill>
                <a:latin typeface="Calibri"/>
              </a:rPr>
              <a:t>after the policy above is 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22208" y="3035808"/>
            <a:ext cx="3255263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C7422"/>
                </a:solidFill>
                <a:latin typeface="Calibri"/>
              </a:rPr>
              <a:t>5 · </a:t>
            </a:r>
            <a:r>
              <a:rPr sz="1000" b="1">
                <a:solidFill>
                  <a:srgbClr val="16203C"/>
                </a:solidFill>
                <a:latin typeface="Calibri"/>
              </a:rPr>
              <a:t>Review the assembled prompt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22208" y="3712464"/>
            <a:ext cx="3255263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C7422"/>
                </a:solidFill>
                <a:latin typeface="Calibri"/>
              </a:rPr>
              <a:t>6 · </a:t>
            </a:r>
            <a:r>
              <a:rPr sz="1000" b="1">
                <a:solidFill>
                  <a:srgbClr val="16203C"/>
                </a:solidFill>
                <a:latin typeface="Calibri"/>
              </a:rPr>
              <a:t>Generate — or copy to any AI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22208" y="4389120"/>
            <a:ext cx="3255263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C7422"/>
                </a:solidFill>
                <a:latin typeface="Calibri"/>
              </a:rPr>
              <a:t>7 · </a:t>
            </a:r>
            <a:r>
              <a:rPr sz="1000" b="1">
                <a:solidFill>
                  <a:srgbClr val="16203C"/>
                </a:solidFill>
                <a:latin typeface="Calibri"/>
              </a:rPr>
              <a:t>Review &amp; download the deck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830" b="0">
                <a:solidFill>
                  <a:srgbClr val="47517A"/>
                </a:solidFill>
                <a:latin typeface="Calibri"/>
              </a:rPr>
              <a:t>PPTX / PDF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07608" y="5321807"/>
            <a:ext cx="2295144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CD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38CAD"/>
                </a:solidFill>
                <a:latin typeface="Calibri"/>
              </a:rPr>
              <a:t>⚙ ON ANALYSE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47517A"/>
                </a:solidFill>
                <a:latin typeface="Calibri"/>
              </a:rPr>
              <a:t>Parse → build the book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07608" y="5907024"/>
            <a:ext cx="2295144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CD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38CAD"/>
                </a:solidFill>
                <a:latin typeface="Calibri"/>
              </a:rPr>
              <a:t>⚙ AUTO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47517A"/>
                </a:solidFill>
                <a:latin typeface="Calibri"/>
              </a:rPr>
              <a:t>Compute deterministic FACTS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30" b="0">
                <a:solidFill>
                  <a:srgbClr val="47517A"/>
                </a:solidFill>
                <a:latin typeface="Calibri"/>
              </a:rPr>
              <a:t>allocation · drift · suitability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22208" y="5468112"/>
            <a:ext cx="1011935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CD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38CAD"/>
                </a:solidFill>
                <a:latin typeface="Calibri"/>
              </a:rPr>
              <a:t>⚙ ASSEMBLE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47517A"/>
                </a:solidFill>
                <a:latin typeface="Calibri"/>
              </a:rPr>
              <a:t>One self-contained prompt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3871" y="5468112"/>
            <a:ext cx="1011935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C7422"/>
                </a:solidFill>
                <a:latin typeface="Calibri"/>
              </a:rPr>
              <a:t>✨ AI MODEL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16203C"/>
                </a:solidFill>
                <a:latin typeface="Calibri"/>
              </a:rPr>
              <a:t>Writes the narrative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65535" y="5468112"/>
            <a:ext cx="1011935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CD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6400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38CAD"/>
                </a:solidFill>
                <a:latin typeface="Calibri"/>
              </a:rPr>
              <a:t>⚙ RENDER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47517A"/>
                </a:solidFill>
                <a:latin typeface="Calibri"/>
              </a:rPr>
              <a:t>PPTX / PDF deck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30" b="0">
                <a:solidFill>
                  <a:srgbClr val="47517A"/>
                </a:solidFill>
                <a:latin typeface="Calibri"/>
              </a:rPr>
              <a:t>figures deterministic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4710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7517A"/>
                </a:solidFill>
                <a:latin typeface="Calibri"/>
              </a:rPr>
              <a:t>Recommended order: set the policy (1–2) first, then Analyse (4). The tactical text and documents pass verbatim into one self-contained prompt (5–6) that the AI Model writes from — and that you can copy into any AI model. Every figure is computed deterministically; the AI writes prose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