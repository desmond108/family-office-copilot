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872A"/>
                </a:solidFill>
                <a:latin typeface="Calibri"/>
              </a:rPr>
              <a:t>MERIDIAN FAMILY OFFICE COPILOT · v7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41248"/>
            <a:ext cx="106984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E2A56"/>
                </a:solidFill>
                <a:latin typeface="Georgia"/>
              </a:rPr>
              <a:t>Does “Confirm items” fill your Allocations &amp; Limits?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57400"/>
            <a:ext cx="10725912" cy="1143000"/>
          </a:xfrm>
          <a:prstGeom prst="roundRect">
            <a:avLst>
              <a:gd name="adj" fmla="val 6000"/>
            </a:avLst>
          </a:prstGeom>
          <a:solidFill>
            <a:srgbClr val="EEF0F6"/>
          </a:solidFill>
          <a:ln w="1905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E2A56"/>
                </a:solidFill>
                <a:latin typeface="Calibri"/>
              </a:rPr>
              <a:t>1.  </a:t>
            </a:r>
            <a:r>
              <a:rPr sz="1500" b="1">
                <a:solidFill>
                  <a:srgbClr val="1E2A56"/>
                </a:solidFill>
                <a:latin typeface="Calibri"/>
              </a:rPr>
              <a:t>Confirm items</a:t>
            </a:r>
            <a:r>
              <a:rPr sz="1200" b="0">
                <a:solidFill>
                  <a:srgbClr val="47517A"/>
                </a:solidFill>
                <a:latin typeface="Calibri"/>
              </a:rPr>
              <a:t>   — commits the interpreted instructions</a:t>
            </a:r>
          </a:p>
          <a:p>
            <a:pPr algn="l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Produces a 📡 monitoring watchlist (triggers) and guidance folded into the proposal. It writes into NO field.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19856"/>
            <a:ext cx="10725912" cy="1143000"/>
          </a:xfrm>
          <a:prstGeom prst="roundRect">
            <a:avLst>
              <a:gd name="adj" fmla="val 6000"/>
            </a:avLst>
          </a:prstGeom>
          <a:solidFill>
            <a:srgbClr val="F7EFDC"/>
          </a:solidFill>
          <a:ln w="19050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7422"/>
                </a:solidFill>
                <a:latin typeface="Calibri"/>
              </a:rPr>
              <a:t>2.  </a:t>
            </a:r>
            <a:r>
              <a:rPr sz="1500" b="1">
                <a:solidFill>
                  <a:srgbClr val="9C7422"/>
                </a:solidFill>
                <a:latin typeface="Calibri"/>
              </a:rPr>
              <a:t>Apply to allocation targets</a:t>
            </a:r>
            <a:r>
              <a:rPr sz="1200" b="0">
                <a:solidFill>
                  <a:srgbClr val="47517A"/>
                </a:solidFill>
                <a:latin typeface="Calibri"/>
              </a:rPr>
              <a:t>   — the second, separate click</a:t>
            </a:r>
          </a:p>
          <a:p>
            <a:pPr algn="l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9C7422"/>
                </a:solidFill>
                <a:latin typeface="Calibri"/>
              </a:rPr>
              <a:t>The ONLY action that fills the allocation sleeves. Appears only if the client stated target weights (“Gold ETF: 20%”). You still verify and adjust.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82312"/>
            <a:ext cx="10725912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8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7517A"/>
                </a:solidFill>
                <a:latin typeface="Calibri"/>
              </a:rPr>
              <a:t>3.  </a:t>
            </a:r>
            <a:r>
              <a:rPr sz="1500" b="1">
                <a:solidFill>
                  <a:srgbClr val="47517A"/>
                </a:solidFill>
                <a:latin typeface="Calibri"/>
              </a:rPr>
              <a:t>Limits</a:t>
            </a:r>
            <a:r>
              <a:rPr sz="1200" b="0">
                <a:solidFill>
                  <a:srgbClr val="47517A"/>
                </a:solidFill>
                <a:latin typeface="Calibri"/>
              </a:rPr>
              <a:t>   — band tolerance · liquidity · FX · position caps</a:t>
            </a:r>
          </a:p>
          <a:p>
            <a:pPr algn="l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16203C"/>
                </a:solidFill>
                <a:latin typeface="Calibri"/>
              </a:rPr>
              <a:t>Always MANUAL — never extracted from the instructions or auto-filled.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6144768"/>
            <a:ext cx="10725912" cy="658368"/>
          </a:xfrm>
          <a:prstGeom prst="roundRect">
            <a:avLst>
              <a:gd name="adj" fmla="val 6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B0872A"/>
                </a:solidFill>
                <a:latin typeface="Calibri"/>
              </a:rPr>
              <a:t>And Analyse?  </a:t>
            </a:r>
            <a:r>
              <a:rPr sz="1250" b="0">
                <a:solidFill>
                  <a:srgbClr val="FFFFFF"/>
                </a:solidFill>
                <a:latin typeface="Calibri"/>
              </a:rPr>
              <a:t>It processes the client’s statements. After Confirm, every view updates live — you don’t press Analyse again.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10896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alibri"/>
              </a:rPr>
              <a:t>MERIDIAN FAMILY OFFICE COPILOT · v7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"/>
            <a:ext cx="11338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E2A56"/>
                </a:solidFill>
                <a:latin typeface="Georgia"/>
              </a:rPr>
              <a:t>Tactical instructions — who does what, and when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868680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34440" y="1371600"/>
            <a:ext cx="1847088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A  </a:t>
            </a:r>
            <a:r>
              <a:rPr sz="1150" b="1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81528" y="1371600"/>
            <a:ext cx="2286000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B  </a:t>
            </a:r>
            <a:r>
              <a:rPr sz="1150" b="1">
                <a:solidFill>
                  <a:srgbClr val="FFFFFF"/>
                </a:solidFill>
                <a:latin typeface="Calibri"/>
              </a:rPr>
              <a:t>Mandate &amp; policy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7528" y="1371600"/>
            <a:ext cx="4261104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C  </a:t>
            </a:r>
            <a:r>
              <a:rPr sz="1150" b="1">
                <a:solidFill>
                  <a:srgbClr val="FFFFFF"/>
                </a:solidFill>
                <a:latin typeface="Calibri"/>
              </a:rPr>
              <a:t>Capture tactical instructions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28632" y="1371600"/>
            <a:ext cx="2258568" cy="347472"/>
          </a:xfrm>
          <a:prstGeom prst="roundRect">
            <a:avLst>
              <a:gd name="adj" fmla="val 4000"/>
            </a:avLst>
          </a:prstGeom>
          <a:solidFill>
            <a:srgbClr val="13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0872A"/>
                </a:solidFill>
                <a:latin typeface="Consolas"/>
              </a:rPr>
              <a:t>D  </a:t>
            </a:r>
            <a:r>
              <a:rPr sz="1150" b="1">
                <a:solidFill>
                  <a:srgbClr val="FFFFFF"/>
                </a:solidFill>
                <a:latin typeface="Calibri"/>
              </a:rPr>
              <a:t>Review &amp; generate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1755648"/>
            <a:ext cx="10652760" cy="1078992"/>
          </a:xfrm>
          <a:prstGeom prst="roundRect">
            <a:avLst>
              <a:gd name="adj" fmla="val 1000"/>
            </a:avLst>
          </a:prstGeom>
          <a:solidFill>
            <a:srgbClr val="EEF2FB"/>
          </a:solidFill>
          <a:ln w="952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1755648"/>
            <a:ext cx="868680" cy="1078992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A56"/>
                </a:solidFill>
                <a:latin typeface="Calibri"/>
              </a:rPr>
              <a:t>Client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838CAD"/>
                </a:solidFill>
                <a:latin typeface="Calibri"/>
              </a:rPr>
              <a:t>SOURCE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2889504"/>
            <a:ext cx="10652760" cy="2249424"/>
          </a:xfrm>
          <a:prstGeom prst="roundRect">
            <a:avLst>
              <a:gd name="adj" fmla="val 1000"/>
            </a:avLst>
          </a:prstGeom>
          <a:solidFill>
            <a:srgbClr val="FBF6E9"/>
          </a:solidFill>
          <a:ln w="952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889504"/>
            <a:ext cx="868680" cy="2249424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9C7422"/>
                </a:solidFill>
                <a:latin typeface="Calibri"/>
              </a:rPr>
              <a:t>You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838CAD"/>
                </a:solidFill>
                <a:latin typeface="Calibri"/>
              </a:rPr>
              <a:t>ANALYST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5193792"/>
            <a:ext cx="10652760" cy="1371600"/>
          </a:xfrm>
          <a:prstGeom prst="roundRect">
            <a:avLst>
              <a:gd name="adj" fmla="val 1000"/>
            </a:avLst>
          </a:prstGeom>
          <a:solidFill>
            <a:srgbClr val="EEF0F6"/>
          </a:solidFill>
          <a:ln w="9525">
            <a:solidFill>
              <a:srgbClr val="DF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5193792"/>
            <a:ext cx="868680" cy="1371600"/>
          </a:xfrm>
          <a:prstGeom prst="roundRect">
            <a:avLst>
              <a:gd name="adj" fmla="val 8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7517A"/>
                </a:solidFill>
                <a:latin typeface="Calibri"/>
              </a:rPr>
              <a:t>Copilot</a:t>
            </a:r>
          </a:p>
          <a:p>
            <a:pPr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850" b="0">
                <a:solidFill>
                  <a:srgbClr val="838CAD"/>
                </a:solidFill>
                <a:latin typeface="Calibri"/>
              </a:rPr>
              <a:t>SYSTEM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44168" y="1938528"/>
            <a:ext cx="1627632" cy="7132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CA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3C"/>
                </a:solidFill>
                <a:latin typeface="Calibri"/>
              </a:rPr>
              <a:t>Hands over statements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47517A"/>
                </a:solidFill>
                <a:latin typeface="Calibri"/>
              </a:rPr>
              <a:t>INPUT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77256" y="1938528"/>
            <a:ext cx="2641884" cy="71323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CA8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03C"/>
                </a:solidFill>
                <a:latin typeface="Calibri"/>
              </a:rPr>
              <a:t>Gives instructions (plain language)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00" b="0">
                <a:solidFill>
                  <a:srgbClr val="47517A"/>
                </a:solidFill>
                <a:latin typeface="Calibri"/>
              </a:rPr>
              <a:t>“gold below $4,000”, “buy in tranches”…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44168" y="3575304"/>
            <a:ext cx="1627632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1 · </a:t>
            </a:r>
            <a:r>
              <a:rPr sz="1000" b="1">
                <a:solidFill>
                  <a:srgbClr val="16203C"/>
                </a:solidFill>
                <a:latin typeface="Calibri"/>
              </a:rPr>
              <a:t>Upload → Analyse ▸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ingest the statements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91256" y="3108960"/>
            <a:ext cx="2066543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2 · </a:t>
            </a:r>
            <a:r>
              <a:rPr sz="1000" b="1">
                <a:solidFill>
                  <a:srgbClr val="16203C"/>
                </a:solidFill>
                <a:latin typeface="Calibri"/>
              </a:rPr>
              <a:t>Set mandate, risk &amp; ability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91256" y="4114800"/>
            <a:ext cx="2066543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3 · </a:t>
            </a:r>
            <a:r>
              <a:rPr sz="1000" b="1">
                <a:solidFill>
                  <a:srgbClr val="16203C"/>
                </a:solidFill>
                <a:latin typeface="Calibri"/>
              </a:rPr>
              <a:t>Set allocation targets &amp; limits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limits manual · sleeves can be pre-filled by 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58968" y="2999232"/>
            <a:ext cx="1965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4 · </a:t>
            </a:r>
            <a:r>
              <a:rPr sz="950" b="1">
                <a:solidFill>
                  <a:srgbClr val="16203C"/>
                </a:solidFill>
                <a:latin typeface="Calibri"/>
              </a:rPr>
              <a:t>Paste → Sort into items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2999232"/>
            <a:ext cx="196596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5 · </a:t>
            </a:r>
            <a:r>
              <a:rPr sz="950" b="1">
                <a:solidFill>
                  <a:srgbClr val="16203C"/>
                </a:solidFill>
                <a:latin typeface="Calibri"/>
              </a:rPr>
              <a:t>Review: Keep · edit · notes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58968" y="3712464"/>
            <a:ext cx="4078224" cy="457200"/>
          </a:xfrm>
          <a:prstGeom prst="roundRect">
            <a:avLst>
              <a:gd name="adj" fmla="val 12000"/>
            </a:avLst>
          </a:prstGeom>
          <a:solidFill>
            <a:srgbClr val="FBE6D2"/>
          </a:solidFill>
          <a:ln w="15875">
            <a:solidFill>
              <a:srgbClr val="B06A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6A17"/>
                </a:solidFill>
                <a:latin typeface="Calibri"/>
              </a:rPr>
              <a:t>◇ needs-clarification?  </a:t>
            </a:r>
            <a:r>
              <a:rPr sz="900" b="0">
                <a:solidFill>
                  <a:srgbClr val="47517A"/>
                </a:solidFill>
                <a:latin typeface="Calibri"/>
              </a:rPr>
              <a:t>Yes → ask client ⟲   ·   No 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8968" y="4242816"/>
            <a:ext cx="19659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6 · </a:t>
            </a:r>
            <a:r>
              <a:rPr sz="950" b="1">
                <a:solidFill>
                  <a:srgbClr val="16203C"/>
                </a:solidFill>
                <a:latin typeface="Calibri"/>
              </a:rPr>
              <a:t>Confirm items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780" b="0">
                <a:solidFill>
                  <a:srgbClr val="47517A"/>
                </a:solidFill>
                <a:latin typeface="Calibri"/>
              </a:rPr>
              <a:t>commits guidance + watchlist · fills NO fields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71231" y="4242816"/>
            <a:ext cx="19659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C7422"/>
                </a:solidFill>
                <a:latin typeface="Calibri"/>
              </a:rPr>
              <a:t>7 · </a:t>
            </a:r>
            <a:r>
              <a:rPr sz="950" b="1">
                <a:solidFill>
                  <a:srgbClr val="16203C"/>
                </a:solidFill>
                <a:latin typeface="Calibri"/>
              </a:rPr>
              <a:t>Apply to allocation targets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780" b="0">
                <a:solidFill>
                  <a:srgbClr val="47517A"/>
                </a:solidFill>
                <a:latin typeface="Calibri"/>
              </a:rPr>
              <a:t>only action that fills sleeves · optional · ⤶ fills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38360" y="3108960"/>
            <a:ext cx="2039112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8 · </a:t>
            </a:r>
            <a:r>
              <a:rPr sz="1000" b="1">
                <a:solidFill>
                  <a:srgbClr val="16203C"/>
                </a:solidFill>
                <a:latin typeface="Calibri"/>
              </a:rPr>
              <a:t>Review Overview / Suitability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38360" y="4114800"/>
            <a:ext cx="2039112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08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9C7422"/>
                </a:solidFill>
                <a:latin typeface="Calibri"/>
              </a:rPr>
              <a:t>9 · </a:t>
            </a:r>
            <a:r>
              <a:rPr sz="1000" b="1">
                <a:solidFill>
                  <a:srgbClr val="16203C"/>
                </a:solidFill>
                <a:latin typeface="Calibri"/>
              </a:rPr>
              <a:t>Open Proposal → Generate deck</a:t>
            </a:r>
          </a:p>
          <a:p>
            <a:pPr algn="l">
              <a:lnSpc>
                <a:spcPct val="102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PPTX / PDF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44168" y="5376672"/>
            <a:ext cx="1627632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AUTO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Parse → build the book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91256" y="5376672"/>
            <a:ext cx="206654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AUTO · LIVE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Compute allocation, drift, suitability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58968" y="5376672"/>
            <a:ext cx="197510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ON CONFIRM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Watchlist + guidance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unclear items held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62088" y="5376672"/>
            <a:ext cx="1975104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IF WEIGHTS GIVEN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Builds Proposed allocation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you Apply it in 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38360" y="5376672"/>
            <a:ext cx="2039112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CD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64008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838CAD"/>
                </a:solidFill>
                <a:latin typeface="Calibri"/>
              </a:rPr>
              <a:t>⚙ AUTO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Generate PPTX / PDF</a:t>
            </a:r>
          </a:p>
          <a:p>
            <a:pPr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</a:pPr>
            <a:r>
              <a:rPr sz="830" b="0">
                <a:solidFill>
                  <a:srgbClr val="47517A"/>
                </a:solidFill>
                <a:latin typeface="Calibri"/>
              </a:rPr>
              <a:t>figures deterministic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47104"/>
            <a:ext cx="11430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7517A"/>
                </a:solidFill>
                <a:latin typeface="Calibri"/>
              </a:rPr>
              <a:t>Key point: Confirm (6) fills no fields — allocation sleeves are written only via Apply (7); limits are always manual.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