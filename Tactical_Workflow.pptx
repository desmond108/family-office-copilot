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8016" cy="6858000"/>
          </a:xfrm>
          <a:prstGeom prst="roundRect">
            <a:avLst>
              <a:gd name="adj" fmla="val 8000"/>
            </a:avLst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310896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40">
                <a:solidFill>
                  <a:srgbClr val="B9C2E0"/>
                </a:solidFill>
                <a:latin typeface="Consolas"/>
              </a:rPr>
              <a:t>01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B0872A"/>
                </a:solidFill>
                <a:latin typeface="Calibri"/>
              </a:rPr>
              <a:t>THE TACTICAL-INSTRUCTIONS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969264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From the client's words to a working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87782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B9C2E0"/>
                </a:solidFill>
                <a:latin typeface="Calibri"/>
              </a:rPr>
              <a:t>What the copilot does the moment you confirm the sorted items — and the one rule that keeps every number trustworthy.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F8CBB"/>
                </a:solidFill>
                <a:latin typeface="Calibri"/>
              </a:rPr>
              <a:t>Meridian Family Office Copilot   ·   v6 · Tactical instructions   ·   For partner &amp; client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310896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40">
                <a:solidFill>
                  <a:srgbClr val="838CAD"/>
                </a:solidFill>
                <a:latin typeface="Consolas"/>
              </a:rPr>
              <a:t>02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65836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B0872A"/>
                </a:solidFill>
                <a:latin typeface="Calibri"/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024128"/>
            <a:ext cx="106070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A56"/>
                </a:solidFill>
                <a:latin typeface="Georgia"/>
              </a:rPr>
              <a:t>Four steps in, two outputs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47088"/>
            <a:ext cx="10241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17A"/>
                </a:solidFill>
                <a:latin typeface="Calibri"/>
              </a:rPr>
              <a:t>The first four steps are what the analyst does. Confirm is where this walkthrough begins — everything to its right is automatic.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2834640"/>
            <a:ext cx="1600200" cy="1737360"/>
          </a:xfrm>
          <a:prstGeom prst="roundRect">
            <a:avLst>
              <a:gd name="adj" fmla="val 10000"/>
            </a:avLst>
          </a:prstGeom>
          <a:solidFill>
            <a:srgbClr val="EEF0F6"/>
          </a:solidFill>
          <a:ln w="15875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838CAD"/>
                </a:solidFill>
                <a:latin typeface="Consolas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16203C"/>
                </a:solidFill>
                <a:latin typeface="Calibri"/>
              </a:rPr>
              <a:t>Paste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alibri"/>
              </a:rPr>
              <a:t>Client's asks, plain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68296" y="3520439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8CDDD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87752" y="2834640"/>
            <a:ext cx="1600200" cy="1737360"/>
          </a:xfrm>
          <a:prstGeom prst="roundRect">
            <a:avLst>
              <a:gd name="adj" fmla="val 10000"/>
            </a:avLst>
          </a:prstGeom>
          <a:solidFill>
            <a:srgbClr val="EEF0F6"/>
          </a:solidFill>
          <a:ln w="15875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838CAD"/>
                </a:solidFill>
                <a:latin typeface="Consolas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16203C"/>
                </a:solidFill>
                <a:latin typeface="Calibri"/>
              </a:rPr>
              <a:t>Sort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alibri"/>
              </a:rPr>
              <a:t>Copilot types each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9664" y="3520439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8CDDD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834640"/>
            <a:ext cx="1600200" cy="1737360"/>
          </a:xfrm>
          <a:prstGeom prst="roundRect">
            <a:avLst>
              <a:gd name="adj" fmla="val 10000"/>
            </a:avLst>
          </a:prstGeom>
          <a:solidFill>
            <a:srgbClr val="EEF0F6"/>
          </a:solidFill>
          <a:ln w="15875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838CAD"/>
                </a:solidFill>
                <a:latin typeface="Consolas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16203C"/>
                </a:solidFill>
                <a:latin typeface="Calibri"/>
              </a:rPr>
              <a:t>Review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alibri"/>
              </a:rPr>
              <a:t>Analyst edits in a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1032" y="3520439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8CDDD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2834640"/>
            <a:ext cx="1600200" cy="1737360"/>
          </a:xfrm>
          <a:prstGeom prst="roundRect">
            <a:avLst>
              <a:gd name="adj" fmla="val 10000"/>
            </a:avLst>
          </a:prstGeom>
          <a:solidFill>
            <a:srgbClr val="E6F1EB"/>
          </a:solidFill>
          <a:ln w="15875">
            <a:solidFill>
              <a:srgbClr val="2F6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2F6F57"/>
                </a:solidFill>
                <a:latin typeface="Consolas"/>
              </a:rPr>
              <a:t>04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2F6F57"/>
                </a:solidFill>
                <a:latin typeface="Calibri"/>
              </a:rPr>
              <a:t>✓ Confirm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alibri"/>
              </a:rPr>
              <a:t>You are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399" y="3520439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8CDDD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2834640"/>
            <a:ext cx="1600200" cy="1737360"/>
          </a:xfrm>
          <a:prstGeom prst="roundRect">
            <a:avLst>
              <a:gd name="adj" fmla="val 10000"/>
            </a:avLst>
          </a:prstGeom>
          <a:solidFill>
            <a:srgbClr val="F7EFDC"/>
          </a:solidFill>
          <a:ln w="15875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9C7422"/>
                </a:solidFill>
                <a:latin typeface="Consolas"/>
              </a:rPr>
              <a:t>→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9C7422"/>
                </a:solidFill>
                <a:latin typeface="Calibri"/>
              </a:rPr>
              <a:t>Watchlist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alibri"/>
              </a:rPr>
              <a:t>Levels to monitor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73767" y="3520439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8CDDD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93224" y="2834640"/>
            <a:ext cx="1600200" cy="1737360"/>
          </a:xfrm>
          <a:prstGeom prst="roundRect">
            <a:avLst>
              <a:gd name="adj" fmla="val 10000"/>
            </a:avLst>
          </a:prstGeom>
          <a:solidFill>
            <a:srgbClr val="F7EFDC"/>
          </a:solidFill>
          <a:ln w="15875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9C7422"/>
                </a:solidFill>
                <a:latin typeface="Consolas"/>
              </a:rPr>
              <a:t>→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9C7422"/>
                </a:solidFill>
                <a:latin typeface="Calibri"/>
              </a:rPr>
              <a:t>Guidance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alibri"/>
              </a:rPr>
              <a:t>Shapes the proposal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489204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7517A"/>
                </a:solidFill>
                <a:latin typeface="Calibri"/>
              </a:rPr>
              <a:t>The rest of this deck follows what leaves the Confirm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310896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40">
                <a:solidFill>
                  <a:srgbClr val="838CAD"/>
                </a:solidFill>
                <a:latin typeface="Consolas"/>
              </a:rPr>
              <a:t>03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65836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B0872A"/>
                </a:solidFill>
                <a:latin typeface="Calibri"/>
              </a:rPr>
              <a:t>STEP 1 · AFTER CONFIRM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024128"/>
            <a:ext cx="106070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A56"/>
                </a:solidFill>
                <a:latin typeface="Georgia"/>
              </a:rPr>
              <a:t>Each ask is now a structured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47088"/>
            <a:ext cx="10241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17A"/>
                </a:solidFill>
                <a:latin typeface="Calibri"/>
              </a:rPr>
              <a:t>A sentence becomes fields the system can act on. Every level is copied from the client's own words — never invented.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2743200"/>
            <a:ext cx="10607040" cy="1600200"/>
          </a:xfrm>
          <a:prstGeom prst="roundRect">
            <a:avLst>
              <a:gd name="adj" fmla="val 6000"/>
            </a:avLst>
          </a:prstGeom>
          <a:solidFill>
            <a:srgbClr val="F7EFDC"/>
          </a:solidFill>
          <a:ln w="19050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889504"/>
            <a:ext cx="2514600" cy="13075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80">
                <a:solidFill>
                  <a:srgbClr val="838CAD"/>
                </a:solidFill>
                <a:latin typeface="Calibri"/>
              </a:rPr>
              <a:t>TYPE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1" i="0">
                <a:solidFill>
                  <a:srgbClr val="9C7422"/>
                </a:solidFill>
                <a:latin typeface="Consolas"/>
              </a:rPr>
              <a:t>entry_trigger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11296" y="2889504"/>
            <a:ext cx="2514600" cy="13075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80">
                <a:solidFill>
                  <a:srgbClr val="838CAD"/>
                </a:solidFill>
                <a:latin typeface="Calibri"/>
              </a:rPr>
              <a:t>INSTRUMENT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1" i="0">
                <a:solidFill>
                  <a:srgbClr val="16203C"/>
                </a:solidFill>
                <a:latin typeface="Consolas"/>
              </a:rPr>
              <a:t>Gold ETF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912" y="2889504"/>
            <a:ext cx="2514600" cy="13075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80">
                <a:solidFill>
                  <a:srgbClr val="838CAD"/>
                </a:solidFill>
                <a:latin typeface="Calibri"/>
              </a:rPr>
              <a:t>ACTION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1" i="0">
                <a:solidFill>
                  <a:srgbClr val="16203C"/>
                </a:solidFill>
                <a:latin typeface="Consolas"/>
              </a:rPr>
              <a:t>Buy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96528" y="2889504"/>
            <a:ext cx="2514600" cy="13075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80">
                <a:solidFill>
                  <a:srgbClr val="838CAD"/>
                </a:solidFill>
                <a:latin typeface="Calibri"/>
              </a:rPr>
              <a:t>LEVEL (COPIED)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1" i="0">
                <a:solidFill>
                  <a:srgbClr val="9C7422"/>
                </a:solidFill>
                <a:latin typeface="Consolas"/>
              </a:rPr>
              <a:t>USD 4,000/oz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617720"/>
            <a:ext cx="106070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250">
                <a:solidFill>
                  <a:srgbClr val="47517A"/>
                </a:solidFill>
                <a:latin typeface="Calibri"/>
              </a:rPr>
              <a:t>From:  </a:t>
            </a:r>
            <a:r>
              <a:rPr sz="1250">
                <a:solidFill>
                  <a:srgbClr val="16203C"/>
                </a:solidFill>
                <a:latin typeface="Consolas"/>
              </a:rPr>
              <a:t>"the gold ETF can be bought below USD 4,000/oz"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1" i="0">
                <a:solidFill>
                  <a:srgbClr val="2F6F57"/>
                </a:solidFill>
                <a:latin typeface="Calibri"/>
              </a:rPr>
              <a:t>Nothing computed — just sorted and copied.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310896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40">
                <a:solidFill>
                  <a:srgbClr val="838CAD"/>
                </a:solidFill>
                <a:latin typeface="Consolas"/>
              </a:rPr>
              <a:t>04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65836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B0872A"/>
                </a:solidFill>
                <a:latin typeface="Calibri"/>
              </a:rPr>
              <a:t>STEP 2 · THE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024128"/>
            <a:ext cx="106070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A56"/>
                </a:solidFill>
                <a:latin typeface="Georgia"/>
              </a:rPr>
              <a:t>The items split by what they're for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2514600"/>
            <a:ext cx="5193792" cy="2880360"/>
          </a:xfrm>
          <a:prstGeom prst="roundRect">
            <a:avLst>
              <a:gd name="adj" fmla="val 5000"/>
            </a:avLst>
          </a:prstGeom>
          <a:solidFill>
            <a:srgbClr val="F7EFDC"/>
          </a:solidFill>
          <a:ln w="19050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203C"/>
                </a:solidFill>
                <a:latin typeface="Calibri"/>
              </a:rPr>
              <a:t>📡   Entry triggers  →  Monitoring watchlist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280" b="0" i="0">
                <a:solidFill>
                  <a:srgbClr val="47517A"/>
                </a:solidFill>
                <a:latin typeface="Calibri"/>
              </a:rPr>
              <a:t>Conditional, level-based asks become a live list the portfolio is watched against — the retention hook.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" y="4087368"/>
            <a:ext cx="4718304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ctr"/>
            <a:r>
              <a:rPr sz="1150" b="0">
                <a:solidFill>
                  <a:srgbClr val="47517A"/>
                </a:solidFill>
                <a:latin typeface="Consolas"/>
              </a:rPr>
              <a:t>Gold ETF · below </a:t>
            </a:r>
            <a:r>
              <a:rPr sz="1150" b="1">
                <a:solidFill>
                  <a:srgbClr val="9C7422"/>
                </a:solidFill>
                <a:latin typeface="Consolas"/>
              </a:rPr>
              <a:t>USD 4,000/oz</a:t>
            </a:r>
            <a:r>
              <a:rPr sz="1150" b="0">
                <a:solidFill>
                  <a:srgbClr val="47517A"/>
                </a:solidFill>
                <a:latin typeface="Consolas"/>
              </a:rPr>
              <a:t> · Buy</a:t>
            </a:r>
          </a:p>
          <a:p>
            <a:r>
              <a:rPr sz="1150" b="0">
                <a:solidFill>
                  <a:srgbClr val="47517A"/>
                </a:solidFill>
                <a:latin typeface="Consolas"/>
              </a:rPr>
              <a:t>S&amp;P 500 ETF · </a:t>
            </a:r>
            <a:r>
              <a:rPr sz="1150" b="1">
                <a:solidFill>
                  <a:srgbClr val="9C7422"/>
                </a:solidFill>
                <a:latin typeface="Consolas"/>
              </a:rPr>
              <a:t>−15% to −20%</a:t>
            </a:r>
            <a:r>
              <a:rPr sz="1150" b="0">
                <a:solidFill>
                  <a:srgbClr val="47517A"/>
                </a:solidFill>
                <a:latin typeface="Consolas"/>
              </a:rPr>
              <a:t> from 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2514600"/>
            <a:ext cx="5193792" cy="2880360"/>
          </a:xfrm>
          <a:prstGeom prst="roundRect">
            <a:avLst>
              <a:gd name="adj" fmla="val 5000"/>
            </a:avLst>
          </a:prstGeom>
          <a:solidFill>
            <a:srgbClr val="EEF0F6"/>
          </a:solidFill>
          <a:ln w="15875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203C"/>
                </a:solidFill>
                <a:latin typeface="Calibri"/>
              </a:rPr>
              <a:t>🧭   Every item  →  Analyst guidance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280" b="0" i="0">
                <a:solidFill>
                  <a:srgbClr val="47517A"/>
                </a:solidFill>
                <a:latin typeface="Calibri"/>
              </a:rPr>
              <a:t>All items (including the triggers) carry forward as intent that shapes the written advice — never as figures.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37376" y="4087368"/>
            <a:ext cx="4718304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onsolas"/>
              </a:rPr>
              <a:t>Execution style · "buy in tranches"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onsolas"/>
              </a:rPr>
              <a:t>Selection criteria · "low fees, good liquidity"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onsolas"/>
              </a:rPr>
              <a:t>Open question · "impact of rate hikes?"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310896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40">
                <a:solidFill>
                  <a:srgbClr val="838CAD"/>
                </a:solidFill>
                <a:latin typeface="Consolas"/>
              </a:rPr>
              <a:t>05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65836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B0872A"/>
                </a:solidFill>
                <a:latin typeface="Calibri"/>
              </a:rPr>
              <a:t>STEP 3 · WHERE THEY APPEAR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024128"/>
            <a:ext cx="106070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A56"/>
                </a:solidFill>
                <a:latin typeface="Georgia"/>
              </a:rPr>
              <a:t>Three places the analyst sees them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2423160"/>
            <a:ext cx="340156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6203C"/>
                </a:solidFill>
                <a:latin typeface="Calibri"/>
              </a:rPr>
              <a:t>📡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1" i="0">
                <a:solidFill>
                  <a:srgbClr val="9C7422"/>
                </a:solidFill>
                <a:latin typeface="Calibri"/>
              </a:rPr>
              <a:t>Monitoring watchlist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47517A"/>
                </a:solidFill>
                <a:latin typeface="Calibri"/>
              </a:rPr>
              <a:t>Triggers, ready to watch the book against.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6203C"/>
                </a:solidFill>
                <a:latin typeface="Consolas"/>
              </a:rPr>
              <a:t>S&amp;P 500 ETF  </a:t>
            </a:r>
            <a:r>
              <a:rPr sz="1100" b="0">
                <a:solidFill>
                  <a:srgbClr val="9C7422"/>
                </a:solidFill>
                <a:latin typeface="Consolas"/>
              </a:rPr>
              <a:t>−15/−20%</a:t>
            </a:r>
          </a:p>
          <a:p>
            <a:r>
              <a:rPr sz="1100" b="1">
                <a:solidFill>
                  <a:srgbClr val="16203C"/>
                </a:solidFill>
                <a:latin typeface="Consolas"/>
              </a:rPr>
              <a:t>Gold ETF  </a:t>
            </a:r>
            <a:r>
              <a:rPr sz="1100" b="0">
                <a:solidFill>
                  <a:srgbClr val="9C7422"/>
                </a:solidFill>
                <a:latin typeface="Consolas"/>
              </a:rPr>
              <a:t>&lt; $4,000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212079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838CAD"/>
                </a:solidFill>
                <a:latin typeface="Calibri"/>
              </a:rPr>
              <a:t>IN THE COPILOT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423160"/>
            <a:ext cx="340156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6203C"/>
                </a:solidFill>
                <a:latin typeface="Calibri"/>
              </a:rPr>
              <a:t>📄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1" i="0">
                <a:solidFill>
                  <a:srgbClr val="16203C"/>
                </a:solidFill>
                <a:latin typeface="Calibri"/>
              </a:rPr>
              <a:t>Proposal deck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47517A"/>
                </a:solidFill>
                <a:latin typeface="Calibri"/>
              </a:rPr>
              <a:t>Listed under "Analyst notes folded into this proposal" on the data &amp; method slide.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424" y="5212079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838CAD"/>
                </a:solidFill>
                <a:latin typeface="Calibri"/>
              </a:rPr>
              <a:t>PPTX · PDF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91856" y="2423160"/>
            <a:ext cx="340156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6203C"/>
                </a:solidFill>
                <a:latin typeface="Calibri"/>
              </a:rPr>
              <a:t>💬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1" i="0">
                <a:solidFill>
                  <a:srgbClr val="16203C"/>
                </a:solidFill>
                <a:latin typeface="Calibri"/>
              </a:rPr>
              <a:t>CIO commentary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47517A"/>
                </a:solidFill>
                <a:latin typeface="Calibri"/>
              </a:rPr>
              <a:t>Prose shaped by the guidance — quoting only the computed figures.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5212079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838CAD"/>
                </a:solidFill>
                <a:latin typeface="Calibri"/>
              </a:rPr>
              <a:t>GENERATED NARRATIVE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310896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40">
                <a:solidFill>
                  <a:srgbClr val="838CAD"/>
                </a:solidFill>
                <a:latin typeface="Consolas"/>
              </a:rPr>
              <a:t>06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65836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B0872A"/>
                </a:solidFill>
                <a:latin typeface="Calibri"/>
              </a:rPr>
              <a:t>STEP 4 · THE GUARDRAIL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024128"/>
            <a:ext cx="106070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A56"/>
                </a:solidFill>
                <a:latin typeface="Georgia"/>
              </a:rPr>
              <a:t>Guidance shapes the story — never the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2286000"/>
            <a:ext cx="5193792" cy="2240280"/>
          </a:xfrm>
          <a:prstGeom prst="roundRect">
            <a:avLst>
              <a:gd name="adj" fmla="val 6000"/>
            </a:avLst>
          </a:prstGeom>
          <a:solidFill>
            <a:srgbClr val="F7EFDC"/>
          </a:solidFill>
          <a:ln w="19050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9C7422"/>
                </a:solidFill>
                <a:latin typeface="Calibri"/>
              </a:rPr>
              <a:t>GUIDANCE CAN SHAPE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47517A"/>
                </a:solidFill>
                <a:latin typeface="Calibri"/>
              </a:rPr>
              <a:t>•  The monitoring watchlist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47517A"/>
                </a:solidFill>
                <a:latin typeface="Calibri"/>
              </a:rPr>
              <a:t>•  The written commentary &amp; emphasis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47517A"/>
                </a:solidFill>
                <a:latin typeface="Calibri"/>
              </a:rPr>
              <a:t>•  What the analyst is prompted to weigh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2286000"/>
            <a:ext cx="5193792" cy="2240280"/>
          </a:xfrm>
          <a:prstGeom prst="roundRect">
            <a:avLst>
              <a:gd name="adj" fmla="val 6000"/>
            </a:avLst>
          </a:prstGeom>
          <a:solidFill>
            <a:srgbClr val="E6F1EB"/>
          </a:solidFill>
          <a:ln w="19050">
            <a:solidFill>
              <a:srgbClr val="2F6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2F6F57"/>
                </a:solidFill>
                <a:latin typeface="Calibri"/>
              </a:rPr>
              <a:t>GUIDANCE NEVER CHANGES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47517A"/>
                </a:solidFill>
                <a:latin typeface="Calibri"/>
              </a:rPr>
              <a:t>•  Allocation, drift &amp; rebalancing figures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47517A"/>
                </a:solidFill>
                <a:latin typeface="Calibri"/>
              </a:rPr>
              <a:t>•  Suitability checks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47517A"/>
                </a:solidFill>
                <a:latin typeface="Calibri"/>
              </a:rPr>
              <a:t>•  Any dollar amount — all from real holdings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937760"/>
            <a:ext cx="106070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1">
                <a:solidFill>
                  <a:srgbClr val="1E2A56"/>
                </a:solidFill>
                <a:latin typeface="Georgia"/>
              </a:rPr>
              <a:t>Ad-hoc words become things the copilot can act on and monitor — without ever letting the model invent a number.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