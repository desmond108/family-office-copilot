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8000"/>
            </a:avLst>
          </a:prstGeom>
          <a:solidFill>
            <a:srgbClr val="B08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B9C2E0"/>
                </a:solidFill>
                <a:latin typeface="Consolas"/>
              </a:rPr>
              <a:t>01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THE TACTICAL-INSTRUCTIONS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From the client's words to a working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8961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B9C2E0"/>
                </a:solidFill>
                <a:latin typeface="Calibri"/>
              </a:rPr>
              <a:t>How the copilot turns the client's instructions and documents into a proposal — and the one rule that keeps every number trustworthy.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F8CBB"/>
                </a:solidFill>
                <a:latin typeface="Calibri"/>
              </a:rPr>
              <a:t>Meridian Family Office Copilot   ·   v10 · Tactical instructions   ·   For partner &amp; client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02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Three steps in, one prompt, one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47088"/>
            <a:ext cx="10241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17A"/>
                </a:solidFill>
                <a:latin typeface="Calibri"/>
              </a:rPr>
              <a:t>The first three steps are what the analyst does. Everything to their right is automatic — and fully visible in the prompt.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834640"/>
            <a:ext cx="1584960" cy="1737360"/>
          </a:xfrm>
          <a:prstGeom prst="roundRect">
            <a:avLst>
              <a:gd name="adj" fmla="val 10000"/>
            </a:avLst>
          </a:prstGeom>
          <a:solidFill>
            <a:srgbClr val="EEF0F6"/>
          </a:solidFill>
          <a:ln w="1587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838CAD"/>
                </a:solidFill>
                <a:latin typeface="Consolas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Paste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Tactical text +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200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90800" y="2834640"/>
            <a:ext cx="1584960" cy="1737360"/>
          </a:xfrm>
          <a:prstGeom prst="roundRect">
            <a:avLst>
              <a:gd name="adj" fmla="val 10000"/>
            </a:avLst>
          </a:prstGeom>
          <a:solidFill>
            <a:srgbClr val="EEF0F6"/>
          </a:solidFill>
          <a:ln w="1587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838CAD"/>
                </a:solidFill>
                <a:latin typeface="Consolas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Set policy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Mandate · risk ·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6616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5216" y="2834640"/>
            <a:ext cx="1584960" cy="1737360"/>
          </a:xfrm>
          <a:prstGeom prst="roundRect">
            <a:avLst>
              <a:gd name="adj" fmla="val 10000"/>
            </a:avLst>
          </a:prstGeom>
          <a:solidFill>
            <a:srgbClr val="EEF0F6"/>
          </a:solidFill>
          <a:ln w="15875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838CAD"/>
                </a:solidFill>
                <a:latin typeface="Consolas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Analyse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Engine computes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1032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834640"/>
            <a:ext cx="1584960" cy="1737360"/>
          </a:xfrm>
          <a:prstGeom prst="roundRect">
            <a:avLst>
              <a:gd name="adj" fmla="val 10000"/>
            </a:avLst>
          </a:prstGeom>
          <a:solidFill>
            <a:srgbClr val="F7EFDC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9C7422"/>
                </a:solidFill>
                <a:latin typeface="Consolas"/>
              </a:rPr>
              <a:t>→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alibri"/>
              </a:rPr>
              <a:t>Prompt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One self-contained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5447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4048" y="2834640"/>
            <a:ext cx="1584960" cy="1737360"/>
          </a:xfrm>
          <a:prstGeom prst="roundRect">
            <a:avLst>
              <a:gd name="adj" fmla="val 10000"/>
            </a:avLst>
          </a:prstGeom>
          <a:solidFill>
            <a:srgbClr val="F7EFDC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9C7422"/>
                </a:solidFill>
                <a:latin typeface="Consolas"/>
              </a:rPr>
              <a:t>→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alibri"/>
              </a:rPr>
              <a:t>AI Model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Writes the narrative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9864" y="3520439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CDDD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08464" y="2834640"/>
            <a:ext cx="1584960" cy="1737360"/>
          </a:xfrm>
          <a:prstGeom prst="roundRect">
            <a:avLst>
              <a:gd name="adj" fmla="val 10000"/>
            </a:avLst>
          </a:prstGeom>
          <a:solidFill>
            <a:srgbClr val="F7EFDC"/>
          </a:solidFill>
          <a:ln w="15875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9C7422"/>
                </a:solidFill>
                <a:latin typeface="Consolas"/>
              </a:rPr>
              <a:t>→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 i="0">
                <a:solidFill>
                  <a:srgbClr val="9C7422"/>
                </a:solidFill>
                <a:latin typeface="Calibri"/>
              </a:rPr>
              <a:t>Deck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7517A"/>
                </a:solidFill>
                <a:latin typeface="Calibri"/>
              </a:rPr>
              <a:t>PPTX /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892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7517A"/>
                </a:solidFill>
                <a:latin typeface="Calibri"/>
              </a:rPr>
              <a:t>The rest of this deck follows what the copilot assembles and what the AI Model does with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03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1 · ASSEMBLE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One self-contained prompt — everything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47088"/>
            <a:ext cx="10241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17A"/>
                </a:solidFill>
                <a:latin typeface="Calibri"/>
              </a:rPr>
              <a:t>The copilot assembles a single prompt: the deterministic FACTS plus the raw context. Numbers come only from FACTS; the rest is intent and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743200"/>
            <a:ext cx="3450336" cy="1078992"/>
          </a:xfrm>
          <a:prstGeom prst="roundRect">
            <a:avLst>
              <a:gd name="adj" fmla="val 8000"/>
            </a:avLst>
          </a:prstGeom>
          <a:solidFill>
            <a:srgbClr val="EEF0F6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40">
                <a:solidFill>
                  <a:srgbClr val="16203C"/>
                </a:solidFill>
                <a:latin typeface="Calibri"/>
              </a:rPr>
              <a:t>ROLE + GROUNDING RULES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7517A"/>
                </a:solidFill>
                <a:latin typeface="Calibri"/>
              </a:rPr>
              <a:t>analyst persona · FACTS-only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4736" y="2743200"/>
            <a:ext cx="3450336" cy="1078992"/>
          </a:xfrm>
          <a:prstGeom prst="roundRect">
            <a:avLst>
              <a:gd name="adj" fmla="val 8000"/>
            </a:avLst>
          </a:prstGeom>
          <a:solidFill>
            <a:srgbClr val="EEF0F6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40">
                <a:solidFill>
                  <a:srgbClr val="16203C"/>
                </a:solidFill>
                <a:latin typeface="Calibri"/>
              </a:rPr>
              <a:t>INTAKE PARAMETERS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7517A"/>
                </a:solidFill>
                <a:latin typeface="Calibri"/>
              </a:rPr>
              <a:t>mandate · risk · limits · targets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43088" y="2743200"/>
            <a:ext cx="3450336" cy="1078992"/>
          </a:xfrm>
          <a:prstGeom prst="roundRect">
            <a:avLst>
              <a:gd name="adj" fmla="val 8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40">
                <a:solidFill>
                  <a:srgbClr val="9C7422"/>
                </a:solidFill>
                <a:latin typeface="Calibri"/>
              </a:rPr>
              <a:t>FACTS (JSON)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7517A"/>
                </a:solidFill>
                <a:latin typeface="Calibri"/>
              </a:rPr>
              <a:t>the only source of numbers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4005072"/>
            <a:ext cx="3450336" cy="1078992"/>
          </a:xfrm>
          <a:prstGeom prst="roundRect">
            <a:avLst>
              <a:gd name="adj" fmla="val 8000"/>
            </a:avLst>
          </a:prstGeom>
          <a:solidFill>
            <a:srgbClr val="EEF0F6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40">
                <a:solidFill>
                  <a:srgbClr val="16203C"/>
                </a:solidFill>
                <a:latin typeface="Calibri"/>
              </a:rPr>
              <a:t>HOLDINGS + STATEMENT SOURCE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7517A"/>
                </a:solidFill>
                <a:latin typeface="Calibri"/>
              </a:rPr>
              <a:t>parsed positions + raw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4736" y="4005072"/>
            <a:ext cx="3450336" cy="1078992"/>
          </a:xfrm>
          <a:prstGeom prst="roundRect">
            <a:avLst>
              <a:gd name="adj" fmla="val 8000"/>
            </a:avLst>
          </a:prstGeom>
          <a:solidFill>
            <a:srgbClr val="EEF0F6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40">
                <a:solidFill>
                  <a:srgbClr val="16203C"/>
                </a:solidFill>
                <a:latin typeface="Calibri"/>
              </a:rPr>
              <a:t>RESEARCH / OTHER DOCUMENTS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7517A"/>
                </a:solidFill>
                <a:latin typeface="Calibri"/>
              </a:rPr>
              <a:t>full text, as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3088" y="4005072"/>
            <a:ext cx="3450336" cy="1078992"/>
          </a:xfrm>
          <a:prstGeom prst="roundRect">
            <a:avLst>
              <a:gd name="adj" fmla="val 8000"/>
            </a:avLst>
          </a:prstGeom>
          <a:solidFill>
            <a:srgbClr val="EEF0F6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40">
                <a:solidFill>
                  <a:srgbClr val="16203C"/>
                </a:solidFill>
                <a:latin typeface="Calibri"/>
              </a:rPr>
              <a:t>TACTICAL INSTRUCTIONS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47517A"/>
                </a:solidFill>
                <a:latin typeface="Calibri"/>
              </a:rPr>
              <a:t>the client's words, verbatim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39496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F6F57"/>
                </a:solidFill>
                <a:latin typeface="Calibri"/>
              </a:rPr>
              <a:t>Shown on the Proposal page — editable, copyable, downloadable — so the client can read exactly what the system asks the AI Model to 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04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2 · 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Read it, edit it, test it anywhere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514600"/>
            <a:ext cx="5193792" cy="2880360"/>
          </a:xfrm>
          <a:prstGeom prst="roundRect">
            <a:avLst>
              <a:gd name="adj" fmla="val 5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✨   Generate with the AI Model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80" b="0" i="0">
                <a:solidFill>
                  <a:srgbClr val="47517A"/>
                </a:solidFill>
                <a:latin typeface="Calibri"/>
              </a:rPr>
              <a:t>Runs the live AI model on the prompt. Its narrative folds into the proposal deck as a commentary slide. Falls back to a deterministic summary with no 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4251960"/>
            <a:ext cx="471830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17A"/>
                </a:solidFill>
                <a:latin typeface="Calibri"/>
              </a:rPr>
              <a:t>Model-agnostic UI — the button and badge read “AI Model”, never a vendor name.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514600"/>
            <a:ext cx="5193792" cy="2880360"/>
          </a:xfrm>
          <a:prstGeom prst="roundRect">
            <a:avLst>
              <a:gd name="adj" fmla="val 5000"/>
            </a:avLst>
          </a:prstGeom>
          <a:solidFill>
            <a:srgbClr val="EEF0F6"/>
          </a:solidFill>
          <a:ln w="15875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03C"/>
                </a:solidFill>
                <a:latin typeface="Calibri"/>
              </a:rPr>
              <a:t>📋   Copy into any AI model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80" b="0" i="0">
                <a:solidFill>
                  <a:srgbClr val="47517A"/>
                </a:solidFill>
                <a:latin typeface="Calibri"/>
              </a:rPr>
              <a:t>The prompt is self-contained, so pasting it verbatim into any external AI model reproduces the proposal — the way the client tests the system across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7376" y="4251960"/>
            <a:ext cx="471830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17A"/>
                </a:solidFill>
                <a:latin typeface="Calibri"/>
              </a:rPr>
              <a:t>Edit before generating; the FACTS block stays the only source of numbers.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5577840"/>
            <a:ext cx="10607040" cy="685800"/>
          </a:xfrm>
          <a:prstGeom prst="roundRect">
            <a:avLst>
              <a:gd name="adj" fmla="val 6000"/>
            </a:avLst>
          </a:prstGeom>
          <a:solidFill>
            <a:srgbClr val="EEF0F6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bIns="109728" wrap="square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🧠  Both paths use the same prompt. There is no classification, review table, or enforcement step in between — the analyst reviews the prompt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05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STEP 3 · THE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AI prose around deterministic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423160"/>
            <a:ext cx="340156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203C"/>
                </a:solidFill>
                <a:latin typeface="Calibri"/>
              </a:rPr>
              <a:t>🧠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9C7422"/>
                </a:solidFill>
                <a:latin typeface="Calibri"/>
              </a:rPr>
              <a:t>The prompt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On the Proposal page — exactly what the AI Model was asked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2120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38CAD"/>
                </a:solidFill>
                <a:latin typeface="Calibri"/>
              </a:rPr>
              <a:t>TRANSPARENCY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23160"/>
            <a:ext cx="340156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203C"/>
                </a:solidFill>
                <a:latin typeface="Calibri"/>
              </a:rPr>
              <a:t>💬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16203C"/>
                </a:solidFill>
                <a:latin typeface="Calibri"/>
              </a:rPr>
              <a:t>CIO commentary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The AI Model's narrative, shaped by the parameters, documents and tactical instructions — quoting only the computed figures.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424" y="52120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38CAD"/>
                </a:solidFill>
                <a:latin typeface="Calibri"/>
              </a:rPr>
              <a:t>GENERATED PROSE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2423160"/>
            <a:ext cx="340156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203C"/>
                </a:solidFill>
                <a:latin typeface="Calibri"/>
              </a:rPr>
              <a:t>📊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16203C"/>
                </a:solidFill>
                <a:latin typeface="Calibri"/>
              </a:rPr>
              <a:t>Deterministic tables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7517A"/>
                </a:solidFill>
                <a:latin typeface="Calibri"/>
              </a:rPr>
              <a:t>Allocation, drift, rebalance and suitability — computed by the engine and unchanged by the 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212079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838CAD"/>
                </a:solidFill>
                <a:latin typeface="Calibri"/>
              </a:rPr>
              <a:t>PPTX · 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3108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40">
                <a:solidFill>
                  <a:srgbClr val="838CAD"/>
                </a:solidFill>
                <a:latin typeface="Consolas"/>
              </a:rPr>
              <a:t>06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658368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B0872A"/>
                </a:solidFill>
                <a:latin typeface="Calibri"/>
              </a:rPr>
              <a:t>THE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24128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A56"/>
                </a:solidFill>
                <a:latin typeface="Georgia"/>
              </a:rPr>
              <a:t>The AI writes prose — never a number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286000"/>
            <a:ext cx="5193792" cy="2240280"/>
          </a:xfrm>
          <a:prstGeom prst="roundRect">
            <a:avLst>
              <a:gd name="adj" fmla="val 6000"/>
            </a:avLst>
          </a:prstGeom>
          <a:solidFill>
            <a:srgbClr val="F7EFDC"/>
          </a:solidFill>
          <a:ln w="19050">
            <a:solidFill>
              <a:srgbClr val="B08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9C7422"/>
                </a:solidFill>
                <a:latin typeface="Calibri"/>
              </a:rPr>
              <a:t>THE AI MODEL CAN SHAPE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The CIO commentary and how it reads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Which considerations to weigh, from the documents &amp; instructions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The emphasis and ordering of the narrative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286000"/>
            <a:ext cx="5193792" cy="2240280"/>
          </a:xfrm>
          <a:prstGeom prst="roundRect">
            <a:avLst>
              <a:gd name="adj" fmla="val 6000"/>
            </a:avLst>
          </a:prstGeom>
          <a:solidFill>
            <a:srgbClr val="E6F1EB"/>
          </a:solidFill>
          <a:ln w="19050">
            <a:solidFill>
              <a:srgbClr val="2F6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109728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2F6F57"/>
                </a:solidFill>
                <a:latin typeface="Calibri"/>
              </a:rPr>
              <a:t>THE AI MODEL NEVER INVENTS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A figure — every number comes from the FACTS block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Suitability thresholds or the rebalance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47517A"/>
                </a:solidFill>
                <a:latin typeface="Calibri"/>
              </a:rPr>
              <a:t>•  Holdings — every dollar from the real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937760"/>
            <a:ext cx="106070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1">
                <a:solidFill>
                  <a:srgbClr val="1E2A56"/>
                </a:solidFill>
                <a:latin typeface="Georgia"/>
              </a:rPr>
              <a:t>Qualitative claims drawn from the client's documents are context — not independently verified. Every figure is computed deterministically by the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