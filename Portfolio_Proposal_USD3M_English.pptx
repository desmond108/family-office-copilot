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3A4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FA3D9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S&amp;P 500 (SPY)</c:v>
                </c:pt>
                <c:pt idx="1">
                  <c:v>Nasdaq-100 (QQQ)</c:v>
                </c:pt>
                <c:pt idx="2">
                  <c:v>Bond ETFs</c:v>
                </c:pt>
                <c:pt idx="3">
                  <c:v>Gold ETF</c:v>
                </c:pt>
                <c:pt idx="4">
                  <c:v>Money market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SPY</c:v>
                  </c:pt>
                  <c:pt idx="1">
                    <c:v>QQQ</c:v>
                  </c:pt>
                  <c:pt idx="2">
                    <c:v>Bonds</c:v>
                  </c:pt>
                  <c:pt idx="3">
                    <c:v>Gold</c:v>
                  </c:pt>
                  <c:pt idx="4">
                    <c:v>Money mkt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6.7</c:v>
                </c:pt>
                <c:pt idx="3">
                  <c:v>0</c:v>
                </c:pt>
                <c:pt idx="4">
                  <c:v>83.3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 target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SPY</c:v>
                  </c:pt>
                  <c:pt idx="1">
                    <c:v>QQQ</c:v>
                  </c:pt>
                  <c:pt idx="2">
                    <c:v>Bonds</c:v>
                  </c:pt>
                  <c:pt idx="3">
                    <c:v>Gold</c:v>
                  </c:pt>
                  <c:pt idx="4">
                    <c:v>Money mkt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566160"/>
            <a:ext cx="2926080" cy="292608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CONFIDENTIAL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Proposal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3,000,000 Portfolio · UOB Account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strategic allocation + phased entry plan for the current stage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client requirements · Data as of July 1,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Client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Long-Term Benchmark Allocation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money market fund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17830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13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ETF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97480" y="23134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770632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437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fund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97480" y="284378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300984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741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ETF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97480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831336"/>
            <a:ext cx="2788920" cy="0"/>
          </a:xfrm>
          <a:prstGeom prst="line">
            <a:avLst/>
          </a:prstGeom>
          <a:noFill/>
          <a:ln w="9525">
            <a:solidFill>
              <a:srgbClr val="2B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044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ETF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97480" y="39044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1170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Current-Stage Operating Strategy (client's original requests)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69080" y="161848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62272" y="152704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equities are richly valued; buy at most an initial 5% of the Nasdaq-100 / S&amp;P 500 ETFs (or none), parking the rest in the USD money market fund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9080" y="225856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62272" y="216712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dip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buying once the Nasdaq-100 or S&amp;P 500 pulls back 15%–20% from its recent 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69080" y="289864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62272" y="280720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trigger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ETF may be bought below USD 4,000/oz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69080" y="353872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62272" y="344728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approach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~5-year medium-duration US Treasury ETF, bought in tranches; assess the impact of US rate-hike expectations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69080" y="4178808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62272" y="408736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asset class, select products with low fees and good liquidity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Environment (Mid-2026)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3.50–3.75%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target range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at the June FOMC; new Chair Warsh leans hawkish and the easing bias has been removed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73–88%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937760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 odds of 2026 H2 hikes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FedWatch: ~73% Sep, ~81% Oct, ~88% Dec; BofA forecasts +75bp to 4.25–4.50% by year-end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81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$4,067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3152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gold price (USD/oz)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86791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back from highs — only ~1.7% above the client's $4,000 buy line, in its weakest quarter in 13 years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81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20.1x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93776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forward P/E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86791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10-yr average of 19.0x; index ~7,440; Nasdaq-100 hit a record ~30,660 in early June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ALLOCATION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Benchmark: USD 3,000,000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3749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6400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vehicle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(USD)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ETF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Nasdaq-100 ETF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ETFs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 / VCIT (see comparison)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ETF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GLDM (or IAU)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SGOV (0–3M T-bill ETF)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297680" y="41605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50/20/20/10 equity/bond/gold/cash structure balances growth, income and defence; the 50% equity sleeve is the portfolio's primary long-term return driver.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ETFs: SPY and QQQ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· SPDR S&amp;P 500 ETF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· $900,000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7510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(500 US large caps)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heavily traded ETF; razor-thin spreads and the deepest options market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growth engine with broad sector diversification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· Invesco Nasdaq-100 ETF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$600,000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97510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(tech / growth leaders)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420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active broad-market ETF globally; excellent options liquidity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675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AI / technology growth theme; higher volatility than SPY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optimisation: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long-term holder who doesn't need options, VOO (0.03%) can replace SPY and QQQM (0.15%) can replace QQQ — same indices, lower fees; SPY/QQQ win on liquidity and execution.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ETF Comparison: VCIT / BND / AGG / IEF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1600200"/>
                <a:gridCol w="1600200"/>
                <a:gridCol w="16002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corporate bonds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(5–10 yr)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IG bond 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(Tsy + corp + MBS)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IG bond 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(Tsy + corp + MBS)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Treasuries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(7–10 yr)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SEC yield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≈3.94%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≈4.29%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≈6.2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≈6.0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≈6.0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≈7.0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(corporates)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(diversified)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(diversified)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(Treasuries)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NAV impact, rates +100bp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41648"/>
            <a:ext cx="8183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cost, yield and diversification, we recommend BND as the core (~12%) plus VCIT for yield enhancement (~8%). For a pure-Treasury sleeve choose IEF, noting its ~7-yr duration is more volatile in a hiking cycle. All four run longer than the client's 5-yr target — for a strict match to a "5-yr medium-duration Treasury", consider IEI (3–7 yr Treasuries, duration ≈4.3 yr, yield ≈3.76%).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OUTLOOK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Rate-Hike Expectations (Client Question 4)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regime has flipped from cuts to hikes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664208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175bp of cuts in 2024–2025, the Fed turned hawkish in 2026: the easing bias was removed at the June meeting, with inflation still above the 2% target on Middle East tensions and energy prices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2596896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pricing: ~73% odds of a September hike; policy rate near ~4% by year-end; BofA forecasts +75bp to 4.25–4.50%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363016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529584"/>
            <a:ext cx="3364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10-year Treasury yield has risen to ~4.7%, the highest since May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implications for bond entry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NAV pressure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+100bp in rates costs a medium-duration bond ETF roughly 6–7% of NAV — do not deploy in one go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268833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Tranching is the right call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 3 tranches of ~$200k each, straddling the Sep / Oct / Dec FOMC meetings; once hikes land, yields — and entry points — are better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362102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is paid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Undeployed cash parked in SGOV earns ~3.5–3.9% annualised, and money-market yields rise further if the Fed hikes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ALLOCATION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ETF Selection and Entry Timing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48463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80160"/>
                <a:gridCol w="12344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GLDM (rec.)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≈$27.6bn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≈$61bn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≈$141.7bn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hold, lowest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liquidity 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frequent trades / options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291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hold physical bullion tracking the LBMA gold price with ≈1.00 correlation; for a long-term hold the fee gap drives net returns — hence GLDM.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23560" y="114300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298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timing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52160" y="16276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$4,067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852160" y="2176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gold price (USD/oz) — only ~1.7% above the client's $4,000 buy line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269748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$4,000: buy first 10% ($300k)</a:t>
            </a:r>
            <a:endParaRPr lang="en-US" sz="9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$3,850: complete the 20% ($600k)</a:t>
            </a:r>
            <a:endParaRPr lang="en-US" sz="9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gold stays above $4,000, park the cash in SGOV and wait — do not chase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Money Market: SGOV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SGOV · iShares 0–3 Month Treasury Bond ETF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0.09% (among the lowest in class)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SEC yield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≈3.55% (trailing 12-month distribution ≈3.85%)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8950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 US T-bills; near-zero rate and credit 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1985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liquidity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≈$96bn AUM, monthly distributions, excellent liquidity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 (0.14% fee) is similar; SGOV is the better choice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role in the portfolio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3977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7393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Benchmark allocation, 10%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$300k liquidity reserve, available at any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88036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0837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Tactical "reservoir"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warehouses ~$2.2m of capital awaiting deployment (equities 40% + gold 20% + later bond tranches) — earning ~3.5–3.9% annualised while waiting for entry points; yields rise further if the Fed hikes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Current-Stage Allocation (Execute Now)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77240"/>
                <a:gridCol w="640080"/>
                <a:gridCol w="1051560"/>
                <a:gridCol w="4114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/ vehicle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(USD)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 · S&amp;P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position; add on pullbacks per triggers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 · Nasdaq-100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position; add on pullbacks per triggers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(BND+VCIT)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1 of 3; later tranches straddle FOMC meetings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· GLDM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at $4,067 is still above $4,000; buy in stages once triggered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 · SGOV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$300k benchmark + $2.2m deployment reservoir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02920" y="3611880"/>
          <a:ext cx="818388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TRIGGERS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Phased-Entry Trigger Conditions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838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  <a:gridCol w="246888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high / condition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1 (add)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2 (complete)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/ SPY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≈7,440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 → ≈6,325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2/3 of target (≈20% cum.)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-20% → ≈5,950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to 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Nasdaq-100 / QQQ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≈30,660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 → ≈26,060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2/3 of target (≈13% cum.)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-20% → ≈24,530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to 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/ GLDM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$4,067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$4,000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10% ($300k)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$3,850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to 20% ($600k)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/ BND+VCIT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Tranche-based (not price-triggered)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2, $200k: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Sep–Oct FOMC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3, $200k: after Dec FOMC,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earlier if 10-yr yield ≥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07408"/>
            <a:ext cx="8183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mechanically when triggers hit — no second-guessing. If nothing triggers within 12 months, re-assess the benchmark against valuations and the rate environment rather than leaving capital idle indefinitely.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280160" y="12344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" y="245059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&amp; initial buys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" y="3035808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SPY 5% + QQQ 5% + bond tranche 1 ($200k); park remaining $2.5m in SGOV; set price alerts on gold and both indices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04488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4328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52344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2344" y="245059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execute triggers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52344" y="3035808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Jul / Sep FOMC; start the gold programme if spot breaks $4,000; add equities per the trigger table on any pullback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22976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25896" y="1426464"/>
            <a:ext cx="1508760" cy="0"/>
          </a:xfrm>
          <a:prstGeom prst="line">
            <a:avLst/>
          </a:prstGeom>
          <a:noFill/>
          <a:ln w="19050">
            <a:solidFill>
              <a:srgbClr val="C6C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73752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245059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bond tranches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3035808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bond tranche 2 after the Oct FOMC and tranche 3 after the Dec FOMC; year-end progress review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44384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64438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67144" y="182880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F5F7F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19385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45059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regime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3035808"/>
            <a:ext cx="16824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six months; rebalance back to benchmark whenever any asset drifts ±5% from target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Proposal · July 2026 · Confidential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4023360" cy="40233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DISCLAIMER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Disclosure &amp; Disclaimer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Equity, gold and bond prices can all fall sharply; pullback triggers are a discipline tool and do not guarantee lower entry prices or protection from loss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risk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hikes exceed expectations, bond ETF NAVs may fall further; tranching mitigates but does not eliminate this 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markets keep rising and triggers never fire, a large cash weighting will drag on returns — hence the scheduled re-assessment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and tax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USD-denominated assets carry currency exposure; US-listed ETFs raise dividend withholding tax and US estate-tax considerations — confirm with a tax adviser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7772400" cy="0"/>
          </a:xfrm>
          <a:prstGeom prst="line">
            <a:avLst/>
          </a:prstGeom>
          <a:noFill/>
          <a:ln w="12700">
            <a:solidFill>
              <a:srgbClr val="2B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148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material is for reference and discussion only and does not constitute investment advice, an offer or a solicitation. Data are drawn from public market sources (as of July 1, 2026) and may become outdated as markets move. Investing involves risk; past performance is not indicative of future returns. Please consider your own circumstances and consult a licensed financial adviser before acting.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Proposal</dc:title>
  <dc:subject>PptxGenJS Presentation</dc:subject>
  <dc:creator>DL Advisory</dc:creator>
  <cp:lastModifiedBy>DL Advisory</cp:lastModifiedBy>
  <cp:revision>1</cp:revision>
  <dcterms:created xsi:type="dcterms:W3CDTF">2026-07-02T07:26:10Z</dcterms:created>
  <dcterms:modified xsi:type="dcterms:W3CDTF">2026-07-02T07:26:10Z</dcterms:modified>
</cp:coreProperties>
</file>