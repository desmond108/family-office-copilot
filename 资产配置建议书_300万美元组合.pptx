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配置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3A4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8FA3D9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标普500 (SPY)</c:v>
                </c:pt>
                <c:pt idx="1">
                  <c:v>纳指100 (QQQ)</c:v>
                </c:pt>
                <c:pt idx="2">
                  <c:v>债券ETF</c:v>
                </c:pt>
                <c:pt idx="3">
                  <c:v>黄金ETF</c:v>
                </c:pt>
                <c:pt idx="4">
                  <c:v>货币基金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现阶段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SPY</c:v>
                  </c:pt>
                  <c:pt idx="1">
                    <c:v>QQQ</c:v>
                  </c:pt>
                  <c:pt idx="2">
                    <c:v>债券</c:v>
                  </c:pt>
                  <c:pt idx="3">
                    <c:v>黄金</c:v>
                  </c:pt>
                  <c:pt idx="4">
                    <c:v>货币基金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6.7</c:v>
                </c:pt>
                <c:pt idx="3">
                  <c:v>0</c:v>
                </c:pt>
                <c:pt idx="4">
                  <c:v>83.3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长期目标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SPY</c:v>
                  </c:pt>
                  <c:pt idx="1">
                    <c:v>QQQ</c:v>
                  </c:pt>
                  <c:pt idx="2">
                    <c:v>债券</c:v>
                  </c:pt>
                  <c:pt idx="3">
                    <c:v>黄金</c:v>
                  </c:pt>
                  <c:pt idx="4">
                    <c:v>货币基金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937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566160"/>
            <a:ext cx="2926080" cy="292608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PORTFOLIO PROPOSAL · CONFIDENTIAL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300万美元投资组合 · UOB账户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长期基准配置 + 现阶段分批建仓策略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基于客户需求定制 · 数据截至2026年7月1日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客户需求摘要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一、长期基准配置比例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美元货币基金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7830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13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黄金ETF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3134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770632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437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债券基金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84378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300984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741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纳指100 ETF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3741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831336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044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标普500 ETF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97480" y="390448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69080" y="1170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二、现阶段操作策略（客户原始要求）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69080" y="161848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62272" y="152704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估值考量　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美股估值处于高位，纳指100与标普500可先不买、或最多先买入5%，其余资金暂放美元货币基金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225856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62272" y="216712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逢低买入　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纳指100或标普500自阶段高点回调15%–20%时，考虑买入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69080" y="289864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62272" y="280720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黄金条件　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黄金ETF在4,000美元/盎司以下可买入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69080" y="353872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62272" y="344728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债券策略　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考虑5年期中等久期美债ETF，分批买入；需评估美元加息预期的影响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69080" y="417880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4069080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62272" y="408736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品种筛选　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各大类基金选择市场上费率低、流动性好的品种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宏观市场环境（2026年年中）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3.50–3.75%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" y="1792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联邦基金利率目标区间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6月FOMC维持不变，新任主席Warsh立场偏鹰，宽松倾向已删除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98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73–88%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937760" y="1792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2026下半年加息概率（市场定价）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20848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CME FedWatch：9月约73%、10月约81%、12月约88%；美银预测全年加息75bp至4.25–4.50%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81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$4,067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31520" y="3575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黄金现货价格（美元/盎司）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86791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较高点回调，刚好高于客户设定的4,000买入线约1.7%，正处13年来最弱季度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081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20.1倍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937760" y="3575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标普500前瞻市盈率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86791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高于10年均值19.0倍；指数约7,440点，纳指100于6月初创约30,660点新高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ALLOCATION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长期基准配置：300万美元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37490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234440"/>
          <a:ext cx="44348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737360"/>
                <a:gridCol w="64008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资产类别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推荐品种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 (USD)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标普500 ETF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900,000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纳指100 ETF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QQQ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600,000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债券ETF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BND / VCIT（详见对比）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600,000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黄金ETF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GLDM（或IAU）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600,000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美元货币基金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SGOV（0–3月国库券ETF）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300,000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3,000,000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297680" y="4160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注：股债金货币「50/20/20/10」结构兼顾增长、收益与避险；权益部分（合计50%）为组合长期回报的主要来源。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EQUITY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股票ETF：SPY 与 QQQ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SPY · SPDR标普500ETF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6093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 · $900,000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7510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跟踪指数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标普500（美国500家大型股）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0.0945%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99923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全球交易量最大的ETF，买卖价差极窄，期权市场最深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组合核心增长引擎，行业分散度高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QQQ · Invesco纳指100ETF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16093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· $600,000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97510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跟踪指数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纳斯达克100（科技/成长龙头）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4871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99923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全球第二活跃的宽基ETF，期权流动性极佳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5112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　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捕捉AI与科技成长主题，波动高于SPY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费率优化提示：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长期持有且不依赖期权者，可用 VOO（0.03%）替代SPY、QQQM（0.15%）替代QQQ，跟踪同一指数、费率更低；SPY/QQQ则胜在流动性与执行效率。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FIXED INCOME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债券ETF四品种对比：VCIT / BND / AGG / IEF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83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27632"/>
                <a:gridCol w="1627632"/>
                <a:gridCol w="1627632"/>
                <a:gridCol w="1609344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VCIT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持仓类型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投资级公司债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(5–10年)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全体投资级债市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(国债+公司+MBS)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全体投资级债市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(国债+公司+MBS)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纯美国国债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(7–10年)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费率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30日SEC收益率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≈4.75%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≈3.94%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≈3.9%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≈4.29%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有效久期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≈6.2年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≈6.0年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≈6.0年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2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≈7.0年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信用风险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有（公司债）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低（分散）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低（分散）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无（国债）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流动性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很好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利率+100bp估算跌幅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-6.2%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-6.0%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-6.0%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2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-7.0%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041648"/>
            <a:ext cx="8183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综合费率、收益与分散度，建议以 BND 为核心（约12%）搭配 VCIT 增强收益（约8%）；若坚持纯国债敞口则选 IEF，但其7年久期在加息周期波动更大。四者久期均高于客户目标的5年，若严格匹配「5年期中等久期美债」，可考虑 IEI（3–7年国债，久期约4.3年，收益率约3.76%）。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RATE OUTLOOK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美元加息预期分析（回应客户问题四）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当前利率环境已由降息转向加息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1664208"/>
            <a:ext cx="3364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2024–2025年累计降息175bp后，联储于2026年转鹰：6月会议删除宽松倾向，通胀受中东局势与能源价格推升，仍高于2%目标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6974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2596896"/>
            <a:ext cx="3364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期货市场定价：9月加息概率约73%，年底利率或升至约4%；美银预测加息75bp至4.25–4.50%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363016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529584"/>
            <a:ext cx="3364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10年期美债收益率已升至约4.7%，为2025年5月以来高位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对债券建仓的三点含义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短期净值承压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利率每升100bp，中久期债券ETF净值约下跌6–7%，不宜一次性买满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688336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分批是正确策略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建议分3批、每批约20万美元，跨越9月/10月/12月FOMC会议，加息落地后收益率更高、买点更好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62102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等待有收益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未投资金停泊SGOV可获约3.5–3.9%年化收益，且若加息，货币基金收益率将同步上升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ALLOCATION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黄金ETF选择与买入时点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48463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280160"/>
                <a:gridCol w="123444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GLDM（推荐）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费率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7A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≈$276亿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≈$610亿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≈$1,417亿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良好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很好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极佳（最深）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长期持有·成本最低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成本与流动性均衡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大额频繁交易/期权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200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三者均持有实物金条、跟踪LBMA金价，走势相关性≈1.00；长期持有下费率差异直接决定净回报，故推荐 GLDM。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23560" y="114300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2984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买入时点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852160" y="16276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$4,067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852160" y="21762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当前金价（美元/盎司），距客户设定的4,000买入线仅约1.7%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9748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跌破 $4,000：买入首批 10%（$30万）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跌至 $3,850 以下：加仓至 20%（$60万）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若金价持续高于4,000，资金停泊SGOV等待，不追高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CASH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美元货币基金：SGOV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SGOV · iShares 0–3月国库券ETF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0.09%（同类最低档）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30日SEC收益率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≈3.55%（近12个月分派率≈3.85%）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持仓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0–3个月美国国库券，几乎无利率与信用风险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规模/流动性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≈$960亿，月度分红，极佳流动性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9502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替代品种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BIL（费率0.14%）功能相近，SGOV更优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组合中的双重角色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645920"/>
            <a:ext cx="39776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77393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基准配置 10%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长期持有$30万作为组合流动性储备，随时可动用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88036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008376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战术「蓄水池」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现阶段承接约$220万待投资金（股票40% + 黄金20% + 债券后续批次），一边等待买点一边赚取约3.5–3.9%年化收益；若联储加息，收益率还将随之上升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现阶段配置方案（即刻执行）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83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960120"/>
                <a:gridCol w="1188720"/>
                <a:gridCol w="33832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资产 / 品种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 (USD)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SPY 标普500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先建观察仓，其余待回调加仓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QQQ 纳指100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先建观察仓，其余待回调加仓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债券（BND+VCIT）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第1批（共3批），后续批次跨越FOMC会议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黄金 GLDM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金价$4,067尚在4,000之上，触发后分批买入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货币基金 SGOV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2,500,000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基准$30万 + 待投蓄水池$220万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02920" y="3611880"/>
          <a:ext cx="818388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TRIGGERS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分批建仓触发条件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83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395728"/>
                <a:gridCol w="24048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参考高点/条件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触发条件一（加仓）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触发条件二（买满）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标普500 / SPY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指数约7,440点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回调15% → 约6,325点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加仓至目标的2/3（累计约20%）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回调20% → 约5,950点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买满至30%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纳指100 / QQQ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高点约30,660点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回调15% → 约26,060点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加仓至目标的2/3（累计约13%）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回调20% → 约24,530点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买满至20%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黄金 / GLDM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现价$4,067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跌破$4,000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买入10%（$30万）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跌破$3,850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买满至20%（$60万）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债券 / BND+VCIT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分批建仓（非价格触发）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第2批$20万：9–10月FOMC后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第3批$20万：12月FOMC后或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10年期收益率≥5%时提前执行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07408"/>
            <a:ext cx="8183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纪律要点：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触发条件到位后按计划机械执行、不做二次预测；若12个月内始终未触发，届时基于估值与利率环境重新评估基准，避免资金长期闲置。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280160" y="12344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83080" y="1426464"/>
            <a:ext cx="1508760" cy="0"/>
          </a:xfrm>
          <a:prstGeom prst="line">
            <a:avLst/>
          </a:prstGeom>
          <a:noFill/>
          <a:ln w="19050">
            <a:solidFill>
              <a:srgbClr val="C6C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" y="24505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开户与初始建仓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" y="2926080"/>
            <a:ext cx="168249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买入SPY 5% + QQQ 5% + 债券第1批$20万；其余$250万停泊SGOV；设置金价与指数价格提醒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04488" y="1426464"/>
            <a:ext cx="1508760" cy="0"/>
          </a:xfrm>
          <a:prstGeom prst="line">
            <a:avLst/>
          </a:prstGeom>
          <a:noFill/>
          <a:ln w="19050">
            <a:solidFill>
              <a:srgbClr val="C6C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4328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52344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第3季度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7–9月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52344" y="24505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监控与条件执行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52344" y="2926080"/>
            <a:ext cx="168249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关注7月/9月FOMC；金价破$4,000即启动黄金建仓；指数回调触发即按表加仓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2976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52297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25896" y="1426464"/>
            <a:ext cx="1508760" cy="0"/>
          </a:xfrm>
          <a:prstGeom prst="line">
            <a:avLst/>
          </a:prstGeom>
          <a:noFill/>
          <a:ln w="19050">
            <a:solidFill>
              <a:srgbClr val="C6C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73752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第4季度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10–12月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24505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债券分批完成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73752" y="2926080"/>
            <a:ext cx="168249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10月FOMC后执行债券第2批；12月FOMC后执行第3批；年末检视整体进度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44384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64438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67144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2027年起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4505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再平衡机制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95160" y="2926080"/>
            <a:ext cx="168249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每半年检视一次；任一资产偏离目标±5%即再平衡回基准比例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资产配置建议书 · 2026年7月 · 机密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4023360" cy="402336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RISKS &amp; DISCLAIMER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风险提示与声明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市场风险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股票、黄金、债券价格均可能大幅波动；回调触发点仅为纪律工具，不保证在更低位买入或避免损失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利率风险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若加息幅度超预期，债券ETF净值可能进一步下跌；分批策略只能缓解而非消除该风险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机会成本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若市场持续上行而未触发回调条件，大比例现金将拖累组合收益，需按计划定期重新评估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2697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汇率与税务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以美元计价的资产涉及汇率敞口；美国上市ETF的股息预扣税及遗产税影响，建议与税务顾问确认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7772400" cy="0"/>
          </a:xfrm>
          <a:prstGeom prst="line">
            <a:avLst/>
          </a:prstGeom>
          <a:noFill/>
          <a:ln w="12700">
            <a:solidFill>
              <a:srgbClr val="2B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A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仅供参考与讨论之用，不构成投资建议、要约或招揽。文中数据来源于公开市场信息（截至2026年7月1日），可能随市场变化而失效。投资涉及风险，过往表现不代表未来回报。执行前请结合自身情况并咨询持牌财务顾问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资产配置建议书</dc:title>
  <dc:subject>PptxGenJS Presentation</dc:subject>
  <dc:creator>DL Advisory</dc:creator>
  <cp:lastModifiedBy>DL Advisory</cp:lastModifiedBy>
  <cp:revision>1</cp:revision>
  <dcterms:created xsi:type="dcterms:W3CDTF">2026-07-02T05:54:32Z</dcterms:created>
  <dcterms:modified xsi:type="dcterms:W3CDTF">2026-07-02T05:54:32Z</dcterms:modified>
</cp:coreProperties>
</file>