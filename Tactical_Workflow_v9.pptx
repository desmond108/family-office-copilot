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8016" cy="6858000"/>
          </a:xfrm>
          <a:prstGeom prst="roundRect">
            <a:avLst>
              <a:gd name="adj" fmla="val 8000"/>
            </a:avLst>
          </a:prstGeom>
          <a:solidFill>
            <a:srgbClr val="B08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 bIns="109728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310896"/>
            <a:ext cx="1554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40">
                <a:solidFill>
                  <a:srgbClr val="B9C2E0"/>
                </a:solidFill>
                <a:latin typeface="Consolas"/>
              </a:rPr>
              <a:t>01 /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B0872A"/>
                </a:solidFill>
                <a:latin typeface="Calibri"/>
              </a:rPr>
              <a:t>THE TACTICAL-INSTRUCTIONS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9692640" cy="2194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Georgia"/>
              </a:rPr>
              <a:t>From the client's words to a working proposal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877824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B9C2E0"/>
                </a:solidFill>
                <a:latin typeface="Calibri"/>
              </a:rPr>
              <a:t>What the copilot does the moment you confirm the sorted items — and the one rule that keeps every number trustworthy.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F8CBB"/>
                </a:solidFill>
                <a:latin typeface="Calibri"/>
              </a:rPr>
              <a:t>Meridian Family Office Copilot   ·   v8 · Tactical instructions   ·   For partner &amp; client discussion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32720" y="310896"/>
            <a:ext cx="1554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40">
                <a:solidFill>
                  <a:srgbClr val="838CAD"/>
                </a:solidFill>
                <a:latin typeface="Consolas"/>
              </a:rPr>
              <a:t>02 /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" y="658368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B0872A"/>
                </a:solidFill>
                <a:latin typeface="Calibri"/>
              </a:rPr>
              <a:t>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1024128"/>
            <a:ext cx="1060704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E2A56"/>
                </a:solidFill>
                <a:latin typeface="Georgia"/>
              </a:rPr>
              <a:t>Four steps in, three outputs 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847088"/>
            <a:ext cx="102412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17A"/>
                </a:solidFill>
                <a:latin typeface="Calibri"/>
              </a:rPr>
              <a:t>The first four steps are what the analyst does. Confirm is where this walkthrough begins — everything to its right is automatic.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2834640"/>
            <a:ext cx="1342861" cy="1737360"/>
          </a:xfrm>
          <a:prstGeom prst="roundRect">
            <a:avLst>
              <a:gd name="adj" fmla="val 10000"/>
            </a:avLst>
          </a:prstGeom>
          <a:solidFill>
            <a:srgbClr val="EEF0F6"/>
          </a:solidFill>
          <a:ln w="15875">
            <a:solidFill>
              <a:srgbClr val="DF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 bIns="109728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40">
                <a:solidFill>
                  <a:srgbClr val="838CAD"/>
                </a:solidFill>
                <a:latin typeface="Consolas"/>
              </a:rPr>
              <a:t>01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500" b="1" i="0">
                <a:solidFill>
                  <a:srgbClr val="16203C"/>
                </a:solidFill>
                <a:latin typeface="Calibri"/>
              </a:rPr>
              <a:t>Paste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47517A"/>
                </a:solidFill>
                <a:latin typeface="Calibri"/>
              </a:rPr>
              <a:t>Client's asks, plain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10957" y="3520439"/>
            <a:ext cx="274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C8CDDD"/>
                </a:solidFill>
                <a:latin typeface="Calibri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0413" y="2834640"/>
            <a:ext cx="1342861" cy="1737360"/>
          </a:xfrm>
          <a:prstGeom prst="roundRect">
            <a:avLst>
              <a:gd name="adj" fmla="val 10000"/>
            </a:avLst>
          </a:prstGeom>
          <a:solidFill>
            <a:srgbClr val="EEF0F6"/>
          </a:solidFill>
          <a:ln w="15875">
            <a:solidFill>
              <a:srgbClr val="DF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 bIns="109728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40">
                <a:solidFill>
                  <a:srgbClr val="838CAD"/>
                </a:solidFill>
                <a:latin typeface="Consolas"/>
              </a:rPr>
              <a:t>02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500" b="1" i="0">
                <a:solidFill>
                  <a:srgbClr val="16203C"/>
                </a:solidFill>
                <a:latin typeface="Calibri"/>
              </a:rPr>
              <a:t>Sort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47517A"/>
                </a:solidFill>
                <a:latin typeface="Calibri"/>
              </a:rPr>
              <a:t>Copilot types each 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4987" y="3520439"/>
            <a:ext cx="274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C8CDDD"/>
                </a:solidFill>
                <a:latin typeface="Calibri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74443" y="2834640"/>
            <a:ext cx="1342861" cy="1737360"/>
          </a:xfrm>
          <a:prstGeom prst="roundRect">
            <a:avLst>
              <a:gd name="adj" fmla="val 10000"/>
            </a:avLst>
          </a:prstGeom>
          <a:solidFill>
            <a:srgbClr val="EEF0F6"/>
          </a:solidFill>
          <a:ln w="15875">
            <a:solidFill>
              <a:srgbClr val="DF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 bIns="109728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40">
                <a:solidFill>
                  <a:srgbClr val="838CAD"/>
                </a:solidFill>
                <a:latin typeface="Consolas"/>
              </a:rPr>
              <a:t>03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500" b="1" i="0">
                <a:solidFill>
                  <a:srgbClr val="16203C"/>
                </a:solidFill>
                <a:latin typeface="Calibri"/>
              </a:rPr>
              <a:t>Review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47517A"/>
                </a:solidFill>
                <a:latin typeface="Calibri"/>
              </a:rPr>
              <a:t>Keep · edit · flag unclear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99017" y="3520439"/>
            <a:ext cx="274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C8CDDD"/>
                </a:solidFill>
                <a:latin typeface="Calibr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18473" y="2834640"/>
            <a:ext cx="1342861" cy="1737360"/>
          </a:xfrm>
          <a:prstGeom prst="roundRect">
            <a:avLst>
              <a:gd name="adj" fmla="val 10000"/>
            </a:avLst>
          </a:prstGeom>
          <a:solidFill>
            <a:srgbClr val="E6F1EB"/>
          </a:solidFill>
          <a:ln w="15875">
            <a:solidFill>
              <a:srgbClr val="2F6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 bIns="109728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40">
                <a:solidFill>
                  <a:srgbClr val="2F6F57"/>
                </a:solidFill>
                <a:latin typeface="Consolas"/>
              </a:rPr>
              <a:t>04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500" b="1" i="0">
                <a:solidFill>
                  <a:srgbClr val="2F6F57"/>
                </a:solidFill>
                <a:latin typeface="Calibri"/>
              </a:rPr>
              <a:t>✓ Confirm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47517A"/>
                </a:solidFill>
                <a:latin typeface="Calibri"/>
              </a:rPr>
              <a:t>You are 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3046" y="3520439"/>
            <a:ext cx="274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C8CDDD"/>
                </a:solidFill>
                <a:latin typeface="Calibri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62502" y="2834640"/>
            <a:ext cx="1342861" cy="1737360"/>
          </a:xfrm>
          <a:prstGeom prst="roundRect">
            <a:avLst>
              <a:gd name="adj" fmla="val 10000"/>
            </a:avLst>
          </a:prstGeom>
          <a:solidFill>
            <a:srgbClr val="F7EFDC"/>
          </a:solidFill>
          <a:ln w="15875">
            <a:solidFill>
              <a:srgbClr val="B08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 bIns="109728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40">
                <a:solidFill>
                  <a:srgbClr val="9C7422"/>
                </a:solidFill>
                <a:latin typeface="Consolas"/>
              </a:rPr>
              <a:t>→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500" b="1" i="0">
                <a:solidFill>
                  <a:srgbClr val="9C7422"/>
                </a:solidFill>
                <a:latin typeface="Calibri"/>
              </a:rPr>
              <a:t>Watchlist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47517A"/>
                </a:solidFill>
                <a:latin typeface="Calibri"/>
              </a:rPr>
              <a:t>Levels to monitor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7076" y="3520439"/>
            <a:ext cx="274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C8CDDD"/>
                </a:solidFill>
                <a:latin typeface="Calibri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06532" y="2834640"/>
            <a:ext cx="1342861" cy="1737360"/>
          </a:xfrm>
          <a:prstGeom prst="roundRect">
            <a:avLst>
              <a:gd name="adj" fmla="val 10000"/>
            </a:avLst>
          </a:prstGeom>
          <a:solidFill>
            <a:srgbClr val="F7EFDC"/>
          </a:solidFill>
          <a:ln w="15875">
            <a:solidFill>
              <a:srgbClr val="B08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 bIns="109728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40">
                <a:solidFill>
                  <a:srgbClr val="9C7422"/>
                </a:solidFill>
                <a:latin typeface="Consolas"/>
              </a:rPr>
              <a:t>→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500" b="1" i="0">
                <a:solidFill>
                  <a:srgbClr val="9C7422"/>
                </a:solidFill>
                <a:latin typeface="Calibri"/>
              </a:rPr>
              <a:t>Guidance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47517A"/>
                </a:solidFill>
                <a:latin typeface="Calibri"/>
              </a:rPr>
              <a:t>Shapes the proposal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31106" y="3520439"/>
            <a:ext cx="274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C8CDDD"/>
                </a:solidFill>
                <a:latin typeface="Calibri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0562" y="2834640"/>
            <a:ext cx="1342861" cy="1737360"/>
          </a:xfrm>
          <a:prstGeom prst="roundRect">
            <a:avLst>
              <a:gd name="adj" fmla="val 10000"/>
            </a:avLst>
          </a:prstGeom>
          <a:solidFill>
            <a:srgbClr val="F7EFDC"/>
          </a:solidFill>
          <a:ln w="15875">
            <a:solidFill>
              <a:srgbClr val="B08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 bIns="109728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40">
                <a:solidFill>
                  <a:srgbClr val="9C7422"/>
                </a:solidFill>
                <a:latin typeface="Consolas"/>
              </a:rPr>
              <a:t>→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500" b="1" i="0">
                <a:solidFill>
                  <a:srgbClr val="9C7422"/>
                </a:solidFill>
                <a:latin typeface="Calibri"/>
              </a:rPr>
              <a:t>Allocation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47517A"/>
                </a:solidFill>
                <a:latin typeface="Calibri"/>
              </a:rPr>
              <a:t>If weights → Apply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489204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47517A"/>
                </a:solidFill>
                <a:latin typeface="Calibri"/>
              </a:rPr>
              <a:t>The rest of this deck follows what leaves the Confirm step.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32720" y="310896"/>
            <a:ext cx="1554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40">
                <a:solidFill>
                  <a:srgbClr val="838CAD"/>
                </a:solidFill>
                <a:latin typeface="Consolas"/>
              </a:rPr>
              <a:t>03 /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" y="658368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B0872A"/>
                </a:solidFill>
                <a:latin typeface="Calibri"/>
              </a:rPr>
              <a:t>STEP 1 · AFTER CONFIRM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1024128"/>
            <a:ext cx="1060704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E2A56"/>
                </a:solidFill>
                <a:latin typeface="Georgia"/>
              </a:rPr>
              <a:t>Each ask is now a structured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847088"/>
            <a:ext cx="102412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17A"/>
                </a:solidFill>
                <a:latin typeface="Calibri"/>
              </a:rPr>
              <a:t>A sentence becomes fields the system can act on. Every level is copied from the client's own words — never invented.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2743200"/>
            <a:ext cx="10607040" cy="1600200"/>
          </a:xfrm>
          <a:prstGeom prst="roundRect">
            <a:avLst>
              <a:gd name="adj" fmla="val 6000"/>
            </a:avLst>
          </a:prstGeom>
          <a:solidFill>
            <a:srgbClr val="F7EFDC"/>
          </a:solidFill>
          <a:ln w="19050">
            <a:solidFill>
              <a:srgbClr val="B08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 bIns="109728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2889504"/>
            <a:ext cx="2514600" cy="13075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F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 bIns="109728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80">
                <a:solidFill>
                  <a:srgbClr val="838CAD"/>
                </a:solidFill>
                <a:latin typeface="Calibri"/>
              </a:rPr>
              <a:t>TYPE</a:t>
            </a:r>
          </a:p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</a:pPr>
            <a:r>
              <a:rPr sz="1500" b="1" i="0">
                <a:solidFill>
                  <a:srgbClr val="9C7422"/>
                </a:solidFill>
                <a:latin typeface="Consolas"/>
              </a:rPr>
              <a:t>entry_trigger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11296" y="2889504"/>
            <a:ext cx="2514600" cy="13075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F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 bIns="109728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80">
                <a:solidFill>
                  <a:srgbClr val="838CAD"/>
                </a:solidFill>
                <a:latin typeface="Calibri"/>
              </a:rPr>
              <a:t>INSTRUMENT</a:t>
            </a:r>
          </a:p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</a:pPr>
            <a:r>
              <a:rPr sz="1500" b="1" i="0">
                <a:solidFill>
                  <a:srgbClr val="16203C"/>
                </a:solidFill>
                <a:latin typeface="Consolas"/>
              </a:rPr>
              <a:t>Gold ETF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53912" y="2889504"/>
            <a:ext cx="2514600" cy="13075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F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 bIns="109728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80">
                <a:solidFill>
                  <a:srgbClr val="838CAD"/>
                </a:solidFill>
                <a:latin typeface="Calibri"/>
              </a:rPr>
              <a:t>ACTION</a:t>
            </a:r>
          </a:p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</a:pPr>
            <a:r>
              <a:rPr sz="1500" b="1" i="0">
                <a:solidFill>
                  <a:srgbClr val="16203C"/>
                </a:solidFill>
                <a:latin typeface="Consolas"/>
              </a:rPr>
              <a:t>Buy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96528" y="2889504"/>
            <a:ext cx="2514600" cy="13075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F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 bIns="109728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80">
                <a:solidFill>
                  <a:srgbClr val="838CAD"/>
                </a:solidFill>
                <a:latin typeface="Calibri"/>
              </a:rPr>
              <a:t>LEVEL (COPIED)</a:t>
            </a:r>
          </a:p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</a:pPr>
            <a:r>
              <a:rPr sz="1500" b="1" i="0">
                <a:solidFill>
                  <a:srgbClr val="9C7422"/>
                </a:solidFill>
                <a:latin typeface="Consolas"/>
              </a:rPr>
              <a:t>USD 4,000/oz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4617720"/>
            <a:ext cx="106070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sz="1250">
                <a:solidFill>
                  <a:srgbClr val="47517A"/>
                </a:solidFill>
                <a:latin typeface="Calibri"/>
              </a:rPr>
              <a:t>From:  </a:t>
            </a:r>
            <a:r>
              <a:rPr sz="1250">
                <a:solidFill>
                  <a:srgbClr val="16203C"/>
                </a:solidFill>
                <a:latin typeface="Consolas"/>
              </a:rPr>
              <a:t>"the gold ETF can be bought below USD 4,000/oz"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1" i="0">
                <a:solidFill>
                  <a:srgbClr val="2F6F57"/>
                </a:solidFill>
                <a:latin typeface="Calibri"/>
              </a:rPr>
              <a:t>Nothing computed — just sorted and copied.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32720" y="310896"/>
            <a:ext cx="1554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40">
                <a:solidFill>
                  <a:srgbClr val="838CAD"/>
                </a:solidFill>
                <a:latin typeface="Consolas"/>
              </a:rPr>
              <a:t>04 /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" y="658368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B0872A"/>
                </a:solidFill>
                <a:latin typeface="Calibri"/>
              </a:rPr>
              <a:t>STEP 2 · THE SPLIT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1024128"/>
            <a:ext cx="1060704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E2A56"/>
                </a:solidFill>
                <a:latin typeface="Georgia"/>
              </a:rPr>
              <a:t>The items split by what they're for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" y="2514600"/>
            <a:ext cx="5193792" cy="2880360"/>
          </a:xfrm>
          <a:prstGeom prst="roundRect">
            <a:avLst>
              <a:gd name="adj" fmla="val 5000"/>
            </a:avLst>
          </a:prstGeom>
          <a:solidFill>
            <a:srgbClr val="F7EFDC"/>
          </a:solidFill>
          <a:ln w="19050">
            <a:solidFill>
              <a:srgbClr val="B08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 bIns="109728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203C"/>
                </a:solidFill>
                <a:latin typeface="Calibri"/>
              </a:rPr>
              <a:t>📡   Entry triggers  →  Monitoring watchlist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sz="1280" b="0" i="0">
                <a:solidFill>
                  <a:srgbClr val="47517A"/>
                </a:solidFill>
                <a:latin typeface="Calibri"/>
              </a:rPr>
              <a:t>Conditional, level-based asks become a live list the portfolio is watched against — the retention hook.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" y="4087368"/>
            <a:ext cx="4718304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 bIns="109728" wrap="square"/>
          <a:lstStyle/>
          <a:p>
            <a:pPr algn="ctr"/>
            <a:r>
              <a:rPr sz="1150" b="0">
                <a:solidFill>
                  <a:srgbClr val="47517A"/>
                </a:solidFill>
                <a:latin typeface="Consolas"/>
              </a:rPr>
              <a:t>Gold ETF · below </a:t>
            </a:r>
            <a:r>
              <a:rPr sz="1150" b="1">
                <a:solidFill>
                  <a:srgbClr val="9C7422"/>
                </a:solidFill>
                <a:latin typeface="Consolas"/>
              </a:rPr>
              <a:t>USD 4,000/oz</a:t>
            </a:r>
            <a:r>
              <a:rPr sz="1150" b="0">
                <a:solidFill>
                  <a:srgbClr val="47517A"/>
                </a:solidFill>
                <a:latin typeface="Consolas"/>
              </a:rPr>
              <a:t> · Buy</a:t>
            </a:r>
          </a:p>
          <a:p>
            <a:r>
              <a:rPr sz="1150" b="0">
                <a:solidFill>
                  <a:srgbClr val="47517A"/>
                </a:solidFill>
                <a:latin typeface="Consolas"/>
              </a:rPr>
              <a:t>S&amp;P 500 ETF · </a:t>
            </a:r>
            <a:r>
              <a:rPr sz="1150" b="1">
                <a:solidFill>
                  <a:srgbClr val="9C7422"/>
                </a:solidFill>
                <a:latin typeface="Consolas"/>
              </a:rPr>
              <a:t>−15% to −20%</a:t>
            </a:r>
            <a:r>
              <a:rPr sz="1150" b="0">
                <a:solidFill>
                  <a:srgbClr val="47517A"/>
                </a:solidFill>
                <a:latin typeface="Consolas"/>
              </a:rPr>
              <a:t> from high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2514600"/>
            <a:ext cx="5193792" cy="2880360"/>
          </a:xfrm>
          <a:prstGeom prst="roundRect">
            <a:avLst>
              <a:gd name="adj" fmla="val 5000"/>
            </a:avLst>
          </a:prstGeom>
          <a:solidFill>
            <a:srgbClr val="EEF0F6"/>
          </a:solidFill>
          <a:ln w="15875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 bIns="109728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203C"/>
                </a:solidFill>
                <a:latin typeface="Calibri"/>
              </a:rPr>
              <a:t>🧭   Every item  →  Analyst guidance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sz="1280" b="0" i="0">
                <a:solidFill>
                  <a:srgbClr val="47517A"/>
                </a:solidFill>
                <a:latin typeface="Calibri"/>
              </a:rPr>
              <a:t>All items (including the triggers) carry forward as intent that shapes the written advice — never as figures.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37376" y="4087368"/>
            <a:ext cx="4718304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 bIns="109728" wrap="square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7517A"/>
                </a:solidFill>
                <a:latin typeface="Consolas"/>
              </a:rPr>
              <a:t>Execution style · "buy in tranches"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47517A"/>
                </a:solidFill>
                <a:latin typeface="Consolas"/>
              </a:rPr>
              <a:t>Selection criteria · "low fees, good liquidity"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47517A"/>
                </a:solidFill>
                <a:latin typeface="Consolas"/>
              </a:rPr>
              <a:t>Open question · "impact of rate hikes?"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5577840"/>
            <a:ext cx="10607040" cy="685800"/>
          </a:xfrm>
          <a:prstGeom prst="roundRect">
            <a:avLst>
              <a:gd name="adj" fmla="val 6000"/>
            </a:avLst>
          </a:prstGeom>
          <a:solidFill>
            <a:srgbClr val="EEF0F6"/>
          </a:solidFill>
          <a:ln w="12700">
            <a:solidFill>
              <a:srgbClr val="DF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109728" wrap="square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17A"/>
                </a:solidFill>
                <a:latin typeface="Calibri"/>
              </a:rPr>
              <a:t>⚠️  Anything ambiguous is typed needs-clarification and held out of the proposal until resolved. If the client stated target weights, Confirm surfaces a Proposed allocation to Apply.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32720" y="310896"/>
            <a:ext cx="1554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40">
                <a:solidFill>
                  <a:srgbClr val="838CAD"/>
                </a:solidFill>
                <a:latin typeface="Consolas"/>
              </a:rPr>
              <a:t>05 /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" y="658368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B0872A"/>
                </a:solidFill>
                <a:latin typeface="Calibri"/>
              </a:rPr>
              <a:t>STEP 3 · WHERE THEY APPEAR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1024128"/>
            <a:ext cx="1060704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E2A56"/>
                </a:solidFill>
                <a:latin typeface="Georgia"/>
              </a:rPr>
              <a:t>Three places the analyst sees them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" y="2423160"/>
            <a:ext cx="3401568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B08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 bIns="109728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6203C"/>
                </a:solidFill>
                <a:latin typeface="Calibri"/>
              </a:rPr>
              <a:t>📡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400" b="1" i="0">
                <a:solidFill>
                  <a:srgbClr val="9C7422"/>
                </a:solidFill>
                <a:latin typeface="Calibri"/>
              </a:rPr>
              <a:t>Monitoring watchlist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0" i="0">
                <a:solidFill>
                  <a:srgbClr val="47517A"/>
                </a:solidFill>
                <a:latin typeface="Calibri"/>
              </a:rPr>
              <a:t>Triggers, ready to watch the book against.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16203C"/>
                </a:solidFill>
                <a:latin typeface="Consolas"/>
              </a:rPr>
              <a:t>S&amp;P 500 ETF  </a:t>
            </a:r>
            <a:r>
              <a:rPr sz="1100" b="0">
                <a:solidFill>
                  <a:srgbClr val="9C7422"/>
                </a:solidFill>
                <a:latin typeface="Consolas"/>
              </a:rPr>
              <a:t>−15/−20%</a:t>
            </a:r>
          </a:p>
          <a:p>
            <a:r>
              <a:rPr sz="1100" b="1">
                <a:solidFill>
                  <a:srgbClr val="16203C"/>
                </a:solidFill>
                <a:latin typeface="Consolas"/>
              </a:rPr>
              <a:t>Gold ETF  </a:t>
            </a:r>
            <a:r>
              <a:rPr sz="1100" b="0">
                <a:solidFill>
                  <a:srgbClr val="9C7422"/>
                </a:solidFill>
                <a:latin typeface="Consolas"/>
              </a:rPr>
              <a:t>&lt; $4,000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5212079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60">
                <a:solidFill>
                  <a:srgbClr val="838CAD"/>
                </a:solidFill>
                <a:latin typeface="Calibri"/>
              </a:rPr>
              <a:t>IN THE COPILOT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423160"/>
            <a:ext cx="3401568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 bIns="109728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6203C"/>
                </a:solidFill>
                <a:latin typeface="Calibri"/>
              </a:rPr>
              <a:t>📄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400" b="1" i="0">
                <a:solidFill>
                  <a:srgbClr val="16203C"/>
                </a:solidFill>
                <a:latin typeface="Calibri"/>
              </a:rPr>
              <a:t>Proposal deck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0" i="0">
                <a:solidFill>
                  <a:srgbClr val="47517A"/>
                </a:solidFill>
                <a:latin typeface="Calibri"/>
              </a:rPr>
              <a:t>Listed under "Analyst notes folded into this proposal" on the data &amp; method slide.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5424" y="5212079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60">
                <a:solidFill>
                  <a:srgbClr val="838CAD"/>
                </a:solidFill>
                <a:latin typeface="Calibri"/>
              </a:rPr>
              <a:t>PPTX · PDF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91856" y="2423160"/>
            <a:ext cx="3401568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 bIns="109728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6203C"/>
                </a:solidFill>
                <a:latin typeface="Calibri"/>
              </a:rPr>
              <a:t>💬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400" b="1" i="0">
                <a:solidFill>
                  <a:srgbClr val="16203C"/>
                </a:solidFill>
                <a:latin typeface="Calibri"/>
              </a:rPr>
              <a:t>CIO commentary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0" i="0">
                <a:solidFill>
                  <a:srgbClr val="47517A"/>
                </a:solidFill>
                <a:latin typeface="Calibri"/>
              </a:rPr>
              <a:t>Prose shaped by the guidance — quoting only the computed figures.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5212079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60">
                <a:solidFill>
                  <a:srgbClr val="838CAD"/>
                </a:solidFill>
                <a:latin typeface="Calibri"/>
              </a:rPr>
              <a:t>GENERATED NARRATIVE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32720" y="310896"/>
            <a:ext cx="1554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40">
                <a:solidFill>
                  <a:srgbClr val="838CAD"/>
                </a:solidFill>
                <a:latin typeface="Consolas"/>
              </a:rPr>
              <a:t>06 /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" y="658368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B0872A"/>
                </a:solidFill>
                <a:latin typeface="Calibri"/>
              </a:rPr>
              <a:t>STEP 4 · THE GUARDRAIL (V8: TIERED)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1024128"/>
            <a:ext cx="1060704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E2A56"/>
                </a:solidFill>
                <a:latin typeface="Georgia"/>
              </a:rPr>
              <a:t>Guidance can gate a number — never invent 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" y="2286000"/>
            <a:ext cx="5193792" cy="2240280"/>
          </a:xfrm>
          <a:prstGeom prst="roundRect">
            <a:avLst>
              <a:gd name="adj" fmla="val 6000"/>
            </a:avLst>
          </a:prstGeom>
          <a:solidFill>
            <a:srgbClr val="F7EFDC"/>
          </a:solidFill>
          <a:ln w="19050">
            <a:solidFill>
              <a:srgbClr val="B08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 bIns="109728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80">
                <a:solidFill>
                  <a:srgbClr val="9C7422"/>
                </a:solidFill>
                <a:latin typeface="Calibri"/>
              </a:rPr>
              <a:t>GUIDANCE CAN SHAPE &amp; GATE</a:t>
            </a:r>
          </a:p>
          <a:p>
            <a:pPr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</a:pPr>
            <a:r>
              <a:rPr sz="1250" b="0" i="0">
                <a:solidFill>
                  <a:srgbClr val="47517A"/>
                </a:solidFill>
                <a:latin typeface="Calibri"/>
              </a:rPr>
              <a:t>•  The monitoring watchlist &amp; the commentary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0" i="0">
                <a:solidFill>
                  <a:srgbClr val="47517A"/>
                </a:solidFill>
                <a:latin typeface="Calibri"/>
              </a:rPr>
              <a:t>•  🔒 Enforced trigger gates a rebalance buy (→ hold) vs a sourced live price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0" i="0">
                <a:solidFill>
                  <a:srgbClr val="47517A"/>
                </a:solidFill>
                <a:latin typeface="Calibri"/>
              </a:rPr>
              <a:t>•  What the analyst is prompted to weigh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9632" y="2286000"/>
            <a:ext cx="5193792" cy="2240280"/>
          </a:xfrm>
          <a:prstGeom prst="roundRect">
            <a:avLst>
              <a:gd name="adj" fmla="val 6000"/>
            </a:avLst>
          </a:prstGeom>
          <a:solidFill>
            <a:srgbClr val="E6F1EB"/>
          </a:solidFill>
          <a:ln w="19050">
            <a:solidFill>
              <a:srgbClr val="2F6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 bIns="109728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80">
                <a:solidFill>
                  <a:srgbClr val="2F6F57"/>
                </a:solidFill>
                <a:latin typeface="Calibri"/>
              </a:rPr>
              <a:t>GUIDANCE NEVER INVENTS</a:t>
            </a:r>
          </a:p>
          <a:p>
            <a:pPr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</a:pPr>
            <a:r>
              <a:rPr sz="1250" b="0" i="0">
                <a:solidFill>
                  <a:srgbClr val="47517A"/>
                </a:solidFill>
                <a:latin typeface="Calibri"/>
              </a:rPr>
              <a:t>•  A figure from thin air — enforced checks use a price with provenance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0" i="0">
                <a:solidFill>
                  <a:srgbClr val="47517A"/>
                </a:solidFill>
                <a:latin typeface="Calibri"/>
              </a:rPr>
              <a:t>•  Suitability thresholds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0" i="0">
                <a:solidFill>
                  <a:srgbClr val="47517A"/>
                </a:solidFill>
                <a:latin typeface="Calibri"/>
              </a:rPr>
              <a:t>•  Holdings — every dollar from the real 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4937760"/>
            <a:ext cx="1060704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1">
                <a:solidFill>
                  <a:srgbClr val="1E2A56"/>
                </a:solidFill>
                <a:latin typeface="Georgia"/>
              </a:rPr>
              <a:t>Each item is tiered 🔒 enforced / 📡 monitored / 📝 advisory. A client's condition can gate or flag a trade — never fabricate one.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