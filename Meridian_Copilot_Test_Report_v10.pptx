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B08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B0872A"/>
                </a:solidFill>
                <a:latin typeface="Calibri"/>
              </a:rPr>
              <a:t>MERIDIAN FAMILY OFFICE  ·  COPILOT v10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AI Copilot — Test Suite &amp;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233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C8CDDD"/>
                </a:solidFill>
                <a:latin typeface="Calibri"/>
              </a:rPr>
              <a:t>Verifying the deterministic engine, the deliverable layer, and the end-to-end app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7FD1A0"/>
                </a:solidFill>
                <a:latin typeface="Calibri"/>
              </a:rPr>
              <a:t>69/69 tests passed   ·   15 July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5778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9AA4C4"/>
                </a:solidFill>
                <a:latin typeface="Calibri"/>
              </a:rPr>
              <a:t>Runs fully offline in DEMO_MODE — no API key, no network, no billing.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1E2A56"/>
                </a:solidFill>
                <a:latin typeface="Calibri"/>
              </a:rPr>
              <a:t>Coverage at a glance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51560"/>
            <a:ext cx="2926080" cy="45720"/>
          </a:xfrm>
          <a:prstGeom prst="rect">
            <a:avLst/>
          </a:prstGeom>
          <a:solidFill>
            <a:srgbClr val="B08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E2A56"/>
                </a:solidFill>
                <a:latin typeface="Calibri"/>
              </a:rPr>
              <a:t>Central invariant: </a:t>
            </a:r>
            <a:r>
              <a:rPr sz="1400" b="0">
                <a:solidFill>
                  <a:srgbClr val="16203C"/>
                </a:solidFill>
                <a:latin typeface="Calibri"/>
              </a:rPr>
              <a:t>every number is deterministic; documents and instructions shape prose, never figures.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103120"/>
            <a:ext cx="3611880" cy="2377440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103120"/>
            <a:ext cx="3611880" cy="109728"/>
          </a:xfrm>
          <a:prstGeom prst="rect">
            <a:avLst/>
          </a:prstGeom>
          <a:solidFill>
            <a:srgbClr val="B08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77440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E2A56"/>
                </a:solidFill>
                <a:latin typeface="Calibri"/>
              </a:rPr>
              <a:t>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88036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B0872A"/>
                </a:solidFill>
                <a:latin typeface="Calibri"/>
              </a:rPr>
              <a:t>3 files · 30 tests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383280"/>
            <a:ext cx="3154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17A"/>
                </a:solidFill>
                <a:latin typeface="Calibri"/>
              </a:rPr>
              <a:t>Parsing · reconciliation · suitability · grounded Q&amp;A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103120"/>
            <a:ext cx="3611880" cy="2377440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2103120"/>
            <a:ext cx="3611880" cy="109728"/>
          </a:xfrm>
          <a:prstGeom prst="rect">
            <a:avLst/>
          </a:prstGeom>
          <a:solidFill>
            <a:srgbClr val="B08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377440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E2A56"/>
                </a:solidFill>
                <a:latin typeface="Calibri"/>
              </a:rPr>
              <a:t>Deliverable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88036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B0872A"/>
                </a:solidFill>
                <a:latin typeface="Calibri"/>
              </a:rPr>
              <a:t>3 files · 21 tests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383280"/>
            <a:ext cx="3154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17A"/>
                </a:solidFill>
                <a:latin typeface="Calibri"/>
              </a:rPr>
              <a:t>Doc ingestion · portable prompt · narrative · deck render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2103120"/>
            <a:ext cx="3611880" cy="2377440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2103120"/>
            <a:ext cx="3611880" cy="109728"/>
          </a:xfrm>
          <a:prstGeom prst="rect">
            <a:avLst/>
          </a:prstGeom>
          <a:solidFill>
            <a:srgbClr val="B08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2377440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E2A56"/>
                </a:solidFill>
                <a:latin typeface="Calibri"/>
              </a:rPr>
              <a:t>App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288036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B0872A"/>
                </a:solidFill>
                <a:latin typeface="Calibri"/>
              </a:rPr>
              <a:t>1 file · 14 tests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3383280"/>
            <a:ext cx="3154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17A"/>
                </a:solidFill>
                <a:latin typeface="Calibri"/>
              </a:rPr>
              <a:t>Streamlit end-to-end across every 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93776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E2A56"/>
                </a:solidFill>
                <a:latin typeface="Calibri"/>
              </a:rPr>
              <a:t>What's proven end-to-end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• The v10 fix: research/other documents and tactical instructions change the deterministic commentary and every exported deck (HTML, PPTX, PDF).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• The same book reads differently by mandate: advisory flags, discretionary hard-blocks.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• Reconciliation catches the ~$436 custodian break instead of trusting it silently.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A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B08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Statement ingestion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C8CDDD"/>
                </a:solidFill>
                <a:latin typeface="Calibri"/>
              </a:rPr>
              <a:t>Engine  ·  tests/test_statement_parser.py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7432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2000" b="1">
                <a:solidFill>
                  <a:srgbClr val="7FD1A0"/>
                </a:solidFill>
                <a:latin typeface="Calibri"/>
              </a:rPr>
              <a:t>9/9 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17A"/>
                </a:solidFill>
                <a:latin typeface="Calibri"/>
              </a:rPr>
              <a:t>Parse the three custodian formats, reconcile against each statement's own total, convert FX to USD, and keep a PII-free continuity key. Every downstream number rides here.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65960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01168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984248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Parse custodian A (USD, per-share CSV) into valued positions.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386584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3230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404872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Semicolon CSV, European decimals, EUR/CHF → converted to a USD base.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07208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85292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825496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JSON custodian carries illiquid alternatives + a Lombard loan (a liability).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227832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273552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246120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One sample deliberately fails its checksum by ~$436 — it must be flagged, not silently trusted.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69417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666744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The ~$436 break on custodian B reconciles under a generous tolerance but fails under a tight one — proving the checksum knob actually gates the flag.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1965960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201168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80" y="1984248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Continuity key is deterministic across re-parses and carries no PII.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2386584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243230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12280" y="2404872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Continuity check compares month-to-month keys.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2807208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285292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12280" y="2825496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Consolidate all three custodians into one holdings list.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63640" y="3227832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273552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3246120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gross − debt = net, and gross is the sum of position base values.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A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B08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Suitability &amp; 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C8CDDD"/>
                </a:solidFill>
                <a:latin typeface="Calibri"/>
              </a:rPr>
              <a:t>Engine  ·  tests/test_suitability.py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7432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2000" b="1">
                <a:solidFill>
                  <a:srgbClr val="7FD1A0"/>
                </a:solidFill>
                <a:latin typeface="Calibri"/>
              </a:rPr>
              <a:t>12/12 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17A"/>
                </a:solidFill>
                <a:latin typeface="Calibri"/>
              </a:rPr>
              <a:t>The deterministic policy checks. The mandate decides what a breach MEANS; plus concentration, liquidity, unhedged-FX, hard regulatory blocks and instruction-diff.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65960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01168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984248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A single overweight equity book, evaluated under each mandate, yields the mandate-appropriate enforcement on the band breach.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386584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3230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404872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A balanced book inside every band produces no actionable breach.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07208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85292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825496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A single stock above the 10% single-security cap is caught; a diversified fund of the same weight is not.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227832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273552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246120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Parked liquidity (money-market) is exempt from the single-position cap.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69417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666744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Below the min-liquid floor (here mostly illiquid alternatives) is flagged.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069080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11480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4087368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Economic FX exposure above the max-unhedged cap is flagged.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1965960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201168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12280" y="1984248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Sanctioned instrument hard blocks even execution only.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2386584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243230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12280" y="2404872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Complex product appropriateness blocks when not allowed.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63640" y="2807208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285292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25496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Client asked for a treasury sleeve; the proposal holds a corporate-credit bond fund of the wrong duration → a deviation flag.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63640" y="3227832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3273552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12280" y="3246120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Instruction diff satisfied when matched.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63640" y="3648456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0" y="369417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12280" y="3666744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Worst enforcement ranking.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63640" y="4069080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411480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4087368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The three-custodian sample book, under its advisory profile, lands on a 'flag' gate (bands breached, nothing hard-blocked).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A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B08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Conversational 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C8CDDD"/>
                </a:solidFill>
                <a:latin typeface="Calibri"/>
              </a:rPr>
              <a:t>Engine  ·  tests/test_portfolio_qa.py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7432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2000" b="1">
                <a:solidFill>
                  <a:srgbClr val="7FD1A0"/>
                </a:solidFill>
                <a:latin typeface="Calibri"/>
              </a:rPr>
              <a:t>9/9 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17A"/>
                </a:solidFill>
                <a:latin typeface="Calibri"/>
              </a:rPr>
              <a:t>Routing picks the right deterministic tool from the phrasing; answers stay grounded in computed facts; the router never crashes on odd input.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65960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01168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984248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'Net worth' routes to the totals tool.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386584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3230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404872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An FX / currency question routes to the currency tool.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07208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85292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825496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A suitability / mandate question routes to the suitability tool.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227832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273552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246120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A 'largest position' question routes to the concentration tool.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69417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666744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A liquidity question routes to the liquidity tool.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1965960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201168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80" y="1984248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A reconciliation question routes to the data-quality tool.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2386584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243230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12280" y="2404872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Every answer carries facts tied to the computed book.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2807208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285292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12280" y="2825496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The deterministic briefing fact-sheet spans every domain.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63640" y="3227832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273552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3246120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The router must always resolve to SOME tool — never crash on odd input.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A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B08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Document ingestion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C8CDDD"/>
                </a:solidFill>
                <a:latin typeface="Calibri"/>
              </a:rPr>
              <a:t>Deliverable  ·  tests/test_doc_extract.py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7432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2000" b="1">
                <a:solidFill>
                  <a:srgbClr val="7FD1A0"/>
                </a:solidFill>
                <a:latin typeface="Calibri"/>
              </a:rPr>
              <a:t>7/7 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17A"/>
                </a:solidFill>
                <a:latin typeface="Calibri"/>
              </a:rPr>
              <a:t>The research / other uploaders read text deterministically so content can be folded into the prompt as advisory context — never a source of figures.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65960"/>
            <a:ext cx="10881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993392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Plain text and Markdown read cleanly.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386584"/>
            <a:ext cx="1088136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43230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2414016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HTML is stripped to readable text (tags removed).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07208"/>
            <a:ext cx="10881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8529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834640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An .eml email body is extracted.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227832"/>
            <a:ext cx="1088136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2735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255264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CSV and JSON pass through as text.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10881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69417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3675888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An unsupported file type fails gracefully (no crash).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069080"/>
            <a:ext cx="1088136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1148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25880" y="4096512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Very large documents are truncated (MAX_CHARS) and marked, never dropped.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489704"/>
            <a:ext cx="10881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53542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4517136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The extraction result always has the same shape.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A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B08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Prompt &amp; narrative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C8CDDD"/>
                </a:solidFill>
                <a:latin typeface="Calibri"/>
              </a:rPr>
              <a:t>Deliverable  ·  tests/test_narrative.py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7432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2000" b="1">
                <a:solidFill>
                  <a:srgbClr val="7FD1A0"/>
                </a:solidFill>
                <a:latin typeface="Calibri"/>
              </a:rPr>
              <a:t>10/10 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17A"/>
                </a:solidFill>
                <a:latin typeface="Calibri"/>
              </a:rPr>
              <a:t>The portable prompt bundles every input; the keyless commentary REFLECTS the documents (the v10 fix) while only ever quoting the computed numbers.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65960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01168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984248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The prompt carries every block (FACTS, intake, holdings, docs, tactical).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386584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3230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404872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Document text is embedded verbatim in the prompt.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07208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85292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825496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Without documents, that content is absent from the prompt.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227832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273552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246120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The FACTS block is valid JSON and holds the numbers.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69417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666744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v10 fix: documents change the deterministic commentary.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1965960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201168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80" y="1984248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The commentary quotes short excerpts of the tactical text and docs.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2386584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243230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12280" y="2404872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The keyless summary must use the model's own numbers verbatim and never invent a figure that isn't already somewhere in the computed model.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2807208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285292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12280" y="2825496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The commentary carries the 'not investment advice' disclaimer.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63640" y="3227832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273552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3246120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The prompt that generates the commentary slide must NOT ask the model to build a deck / produce files — otherwise the model returns the slide-by-slide spec, which leaks onto the commentary slide.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63640" y="3648456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369417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12280" y="3666744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The portable whole-deck prompt (a separate artifact) still asks for the full deck — that behaviour is intentional and must stay distinct from the commentary.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A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B08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Proposal deck render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C8CDDD"/>
                </a:solidFill>
                <a:latin typeface="Calibri"/>
              </a:rPr>
              <a:t>Deliverable  ·  tests/test_generate_proposal.py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7432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2000" b="1">
                <a:solidFill>
                  <a:srgbClr val="7FD1A0"/>
                </a:solidFill>
                <a:latin typeface="Calibri"/>
              </a:rPr>
              <a:t>6/6 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17A"/>
                </a:solidFill>
                <a:latin typeface="Calibri"/>
              </a:rPr>
              <a:t>HTML / PPTX / PDF renderers agree, figures are copied from the model, and documents change every exported format.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65960"/>
            <a:ext cx="10881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993392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All three renderers (HTML/PPTX/PDF) produce valid output.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386584"/>
            <a:ext cx="1088136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43230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2414016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The deck shows the computed net-worth &amp; gross figures.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07208"/>
            <a:ext cx="10881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8529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834640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The commentary slide appears only when a narrative is set.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227832"/>
            <a:ext cx="1088136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2735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255264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v10 fix: documents change the HTML, PPTX and PDF exports.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10881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69417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3675888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With documents, the deck surfaces the client's liquidity event.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069080"/>
            <a:ext cx="1088136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1148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25880" y="4096512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The deck carries the 'not independently verified' disclaimer.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A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B08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End-to-end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C8CDDD"/>
                </a:solidFill>
                <a:latin typeface="Calibri"/>
              </a:rPr>
              <a:t>App  ·  tests/test_app_scenarios.py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7432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2000" b="1">
                <a:solidFill>
                  <a:srgbClr val="7FD1A0"/>
                </a:solidFill>
                <a:latin typeface="Calibri"/>
              </a:rPr>
              <a:t>16/16 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17A"/>
                </a:solidFill>
                <a:latin typeface="Calibri"/>
              </a:rPr>
              <a:t>Drive the real Streamlit app across the views a banker walks through: load samples, review each view, change the mandate &amp; tactical instructions — and never error.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65960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01168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984248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The app boots with no book loaded.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386584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3230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404872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Each sample statement loads into the Overview view. (3×)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07208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85292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825496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Overview / Holdings / Suitability / Proposal all render. (4×)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227832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273552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246120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Proposal does not auto generate commentary.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69417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666744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Generate button produces commentary on click.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1965960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201168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80" y="1984248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The Proposal view shows the assembled prompt and commentary.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2386584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243230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12280" y="2404872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Tactical instructions flow into the on-screen prompt.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2807208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285292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12280" y="2825496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Under discretionary, band breaches HARD-BLOCK; under advisory they only flag. The same book therefore reads differently on the Suitability view. (2×)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63640" y="3227832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273552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3246120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A single-custodian book still produces a proposal.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63640" y="3648456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369417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12280" y="3666744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The Proposal view with no book degrades gracefully.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B08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How to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8328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7FD1A0"/>
                </a:solidFill>
                <a:latin typeface="Calibri"/>
              </a:rPr>
              <a:t>python3 -m pytest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C8CDDD"/>
                </a:solidFill>
                <a:latin typeface="Calibri"/>
              </a:rPr>
              <a:t>python3 -m pytest tests/test_suitability.py -v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9AA4C4"/>
                </a:solidFill>
                <a:latin typeface="Calibri"/>
              </a:rPr>
              <a:t>69/69 passed  ·  offline, deterministic, repeatable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