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0872A"/>
                </a:solidFill>
                <a:latin typeface="Calibri"/>
              </a:rPr>
              <a:t>MERIDIAN FAMILY OFFICE COPILOT · v8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E2A56"/>
                </a:solidFill>
                <a:latin typeface="Georgia"/>
              </a:rPr>
              <a:t>Does “Confirm items” fill your Allocations &amp; Limits?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57400"/>
            <a:ext cx="10725912" cy="1143000"/>
          </a:xfrm>
          <a:prstGeom prst="roundRect">
            <a:avLst>
              <a:gd name="adj" fmla="val 6000"/>
            </a:avLst>
          </a:prstGeom>
          <a:solidFill>
            <a:srgbClr val="EEF0F6"/>
          </a:solidFill>
          <a:ln w="1905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2A56"/>
                </a:solidFill>
                <a:latin typeface="Calibri"/>
              </a:rPr>
              <a:t>1.  </a:t>
            </a:r>
            <a:r>
              <a:rPr sz="1500" b="1">
                <a:solidFill>
                  <a:srgbClr val="1E2A56"/>
                </a:solidFill>
                <a:latin typeface="Calibri"/>
              </a:rPr>
              <a:t>Confirm items</a:t>
            </a:r>
            <a:r>
              <a:rPr sz="1200" b="0">
                <a:solidFill>
                  <a:srgbClr val="47517A"/>
                </a:solidFill>
                <a:latin typeface="Calibri"/>
              </a:rPr>
              <a:t>   — commits the interpreted instructions</a:t>
            </a:r>
          </a:p>
          <a:p>
            <a:pPr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Produces a 📡 monitoring watchlist (triggers) and guidance folded into the proposal. It writes into NO field.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19856"/>
            <a:ext cx="10725912" cy="1143000"/>
          </a:xfrm>
          <a:prstGeom prst="roundRect">
            <a:avLst>
              <a:gd name="adj" fmla="val 6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C7422"/>
                </a:solidFill>
                <a:latin typeface="Calibri"/>
              </a:rPr>
              <a:t>2.  </a:t>
            </a:r>
            <a:r>
              <a:rPr sz="1500" b="1">
                <a:solidFill>
                  <a:srgbClr val="9C7422"/>
                </a:solidFill>
                <a:latin typeface="Calibri"/>
              </a:rPr>
              <a:t>Apply to allocation targets</a:t>
            </a:r>
            <a:r>
              <a:rPr sz="1200" b="0">
                <a:solidFill>
                  <a:srgbClr val="47517A"/>
                </a:solidFill>
                <a:latin typeface="Calibri"/>
              </a:rPr>
              <a:t>   — the second, separate click</a:t>
            </a:r>
          </a:p>
          <a:p>
            <a:pPr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9C7422"/>
                </a:solidFill>
                <a:latin typeface="Calibri"/>
              </a:rPr>
              <a:t>The ONLY action that fills the allocation sleeves. Appears only if the client stated target weights (“Gold ETF: 20%”). You still verify and adjust.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82312"/>
            <a:ext cx="10725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7517A"/>
                </a:solidFill>
                <a:latin typeface="Calibri"/>
              </a:rPr>
              <a:t>3.  </a:t>
            </a:r>
            <a:r>
              <a:rPr sz="1500" b="1">
                <a:solidFill>
                  <a:srgbClr val="47517A"/>
                </a:solidFill>
                <a:latin typeface="Calibri"/>
              </a:rPr>
              <a:t>Limits</a:t>
            </a:r>
            <a:r>
              <a:rPr sz="1200" b="0">
                <a:solidFill>
                  <a:srgbClr val="47517A"/>
                </a:solidFill>
                <a:latin typeface="Calibri"/>
              </a:rPr>
              <a:t>   — band tolerance · liquidity · FX · position caps</a:t>
            </a:r>
          </a:p>
          <a:p>
            <a:pPr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Always MANUAL — never extracted from the instructions or auto-filled.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943600"/>
            <a:ext cx="10725912" cy="868680"/>
          </a:xfrm>
          <a:prstGeom prst="roundRect">
            <a:avLst>
              <a:gd name="adj" fmla="val 6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0872A"/>
                </a:solidFill>
                <a:latin typeface="Calibri"/>
              </a:rPr>
              <a:t>Order, Analyse &amp; the v8 exception:  </a:t>
            </a:r>
            <a:r>
              <a:rPr sz="1150" b="0">
                <a:solidFill>
                  <a:srgbClr val="FFFFFF"/>
                </a:solidFill>
                <a:latin typeface="Calibri"/>
              </a:rPr>
              <a:t>Set the mandate / risk / allocations first, then Analyse — so the first read reflects the policy. Confirm still fills no field; the one exception is a 🔒 enforced price trigger (e.g. “gold below $4,000”), which gates a rebalance buy at Analyse using a sourced live price — it can flag or hold a trade, never invent 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72A"/>
                </a:solidFill>
                <a:latin typeface="Calibri"/>
              </a:rPr>
              <a:t>MERIDIAN FAMILY OFFICE COPILOT · v8 ·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338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E2A56"/>
                </a:solidFill>
                <a:latin typeface="Georgia"/>
              </a:rPr>
              <a:t>Tactical instructions — who does what, and when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868680" cy="347472"/>
          </a:xfrm>
          <a:prstGeom prst="roundRect">
            <a:avLst>
              <a:gd name="adj" fmla="val 4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440" y="1371600"/>
            <a:ext cx="2286000" cy="347472"/>
          </a:xfrm>
          <a:prstGeom prst="roundRect">
            <a:avLst>
              <a:gd name="adj" fmla="val 4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72A"/>
                </a:solidFill>
                <a:latin typeface="Consolas"/>
              </a:rPr>
              <a:t>A  </a:t>
            </a:r>
            <a:r>
              <a:rPr sz="1150" b="1">
                <a:solidFill>
                  <a:srgbClr val="FFFFFF"/>
                </a:solidFill>
                <a:latin typeface="Calibri"/>
              </a:rPr>
              <a:t>Set profile &amp; policy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371600"/>
            <a:ext cx="4261104" cy="347472"/>
          </a:xfrm>
          <a:prstGeom prst="roundRect">
            <a:avLst>
              <a:gd name="adj" fmla="val 4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72A"/>
                </a:solidFill>
                <a:latin typeface="Consolas"/>
              </a:rPr>
              <a:t>B  </a:t>
            </a:r>
            <a:r>
              <a:rPr sz="1150" b="1">
                <a:solidFill>
                  <a:srgbClr val="FFFFFF"/>
                </a:solidFill>
                <a:latin typeface="Calibri"/>
              </a:rPr>
              <a:t>Capture tactical instructions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81544" y="1371600"/>
            <a:ext cx="1847088" cy="347472"/>
          </a:xfrm>
          <a:prstGeom prst="roundRect">
            <a:avLst>
              <a:gd name="adj" fmla="val 4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72A"/>
                </a:solidFill>
                <a:latin typeface="Consolas"/>
              </a:rPr>
              <a:t>C  </a:t>
            </a:r>
            <a:r>
              <a:rPr sz="1150" b="1">
                <a:solidFill>
                  <a:srgbClr val="FFFFFF"/>
                </a:solidFill>
                <a:latin typeface="Calibri"/>
              </a:rPr>
              <a:t>Analyse the statements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28632" y="1371600"/>
            <a:ext cx="2258568" cy="347472"/>
          </a:xfrm>
          <a:prstGeom prst="roundRect">
            <a:avLst>
              <a:gd name="adj" fmla="val 4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72A"/>
                </a:solidFill>
                <a:latin typeface="Consolas"/>
              </a:rPr>
              <a:t>D  </a:t>
            </a:r>
            <a:r>
              <a:rPr sz="1150" b="1">
                <a:solidFill>
                  <a:srgbClr val="FFFFFF"/>
                </a:solidFill>
                <a:latin typeface="Calibri"/>
              </a:rPr>
              <a:t>Review &amp; 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755648"/>
            <a:ext cx="10652760" cy="1078992"/>
          </a:xfrm>
          <a:prstGeom prst="roundRect">
            <a:avLst>
              <a:gd name="adj" fmla="val 1000"/>
            </a:avLst>
          </a:prstGeom>
          <a:solidFill>
            <a:srgbClr val="EEF2FB"/>
          </a:solidFill>
          <a:ln w="952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755648"/>
            <a:ext cx="868680" cy="1078992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A56"/>
                </a:solidFill>
                <a:latin typeface="Calibri"/>
              </a:rPr>
              <a:t>Client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838CAD"/>
                </a:solidFill>
                <a:latin typeface="Calibri"/>
              </a:rPr>
              <a:t>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889504"/>
            <a:ext cx="10652760" cy="2249424"/>
          </a:xfrm>
          <a:prstGeom prst="roundRect">
            <a:avLst>
              <a:gd name="adj" fmla="val 1000"/>
            </a:avLst>
          </a:prstGeom>
          <a:solidFill>
            <a:srgbClr val="FBF6E9"/>
          </a:solidFill>
          <a:ln w="952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889504"/>
            <a:ext cx="868680" cy="224942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C7422"/>
                </a:solidFill>
                <a:latin typeface="Calibri"/>
              </a:rPr>
              <a:t>You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838CAD"/>
                </a:solidFill>
                <a:latin typeface="Calibri"/>
              </a:rPr>
              <a:t>ANALYST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5193792"/>
            <a:ext cx="10652760" cy="1371600"/>
          </a:xfrm>
          <a:prstGeom prst="roundRect">
            <a:avLst>
              <a:gd name="adj" fmla="val 1000"/>
            </a:avLst>
          </a:prstGeom>
          <a:solidFill>
            <a:srgbClr val="EEF0F6"/>
          </a:solidFill>
          <a:ln w="952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5193792"/>
            <a:ext cx="868680" cy="137160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7517A"/>
                </a:solidFill>
                <a:latin typeface="Calibri"/>
              </a:rPr>
              <a:t>Copilot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838CAD"/>
                </a:solidFill>
                <a:latin typeface="Calibri"/>
              </a:rPr>
              <a:t>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0168" y="1938528"/>
            <a:ext cx="2556662" cy="7132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CA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3C"/>
                </a:solidFill>
                <a:latin typeface="Calibri"/>
              </a:rPr>
              <a:t>Gives instructions (plain language)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47517A"/>
                </a:solidFill>
                <a:latin typeface="Calibri"/>
              </a:rPr>
              <a:t>“gold below $4,000”, “Gold ETF: 20%”…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91271" y="1938528"/>
            <a:ext cx="1627632" cy="7132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CA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3C"/>
                </a:solidFill>
                <a:latin typeface="Calibri"/>
              </a:rPr>
              <a:t>Hands over statements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47517A"/>
                </a:solidFill>
                <a:latin typeface="Calibri"/>
              </a:rPr>
              <a:t>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44168" y="3108960"/>
            <a:ext cx="2066543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7422"/>
                </a:solidFill>
                <a:latin typeface="Calibri"/>
              </a:rPr>
              <a:t>1 · </a:t>
            </a:r>
            <a:r>
              <a:rPr sz="1000" b="1">
                <a:solidFill>
                  <a:srgbClr val="16203C"/>
                </a:solidFill>
                <a:latin typeface="Calibri"/>
              </a:rPr>
              <a:t>Set mandate, risk &amp; 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44168" y="4114800"/>
            <a:ext cx="2066543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7422"/>
                </a:solidFill>
                <a:latin typeface="Calibri"/>
              </a:rPr>
              <a:t>2 · </a:t>
            </a:r>
            <a:r>
              <a:rPr sz="1000" b="1">
                <a:solidFill>
                  <a:srgbClr val="16203C"/>
                </a:solidFill>
                <a:latin typeface="Calibri"/>
              </a:rPr>
              <a:t>Set allocation targets &amp; limits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830" b="0">
                <a:solidFill>
                  <a:srgbClr val="47517A"/>
                </a:solidFill>
                <a:latin typeface="Calibri"/>
              </a:rPr>
              <a:t>limits manual · sleeves can be pre-filled by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2999232"/>
            <a:ext cx="19659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C7422"/>
                </a:solidFill>
                <a:latin typeface="Calibri"/>
              </a:rPr>
              <a:t>3 · </a:t>
            </a:r>
            <a:r>
              <a:rPr sz="950" b="1">
                <a:solidFill>
                  <a:srgbClr val="16203C"/>
                </a:solidFill>
                <a:latin typeface="Calibri"/>
              </a:rPr>
              <a:t>Paste → Sort into items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24144" y="2999232"/>
            <a:ext cx="19659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C7422"/>
                </a:solidFill>
                <a:latin typeface="Calibri"/>
              </a:rPr>
              <a:t>4 · </a:t>
            </a:r>
            <a:r>
              <a:rPr sz="950" b="1">
                <a:solidFill>
                  <a:srgbClr val="16203C"/>
                </a:solidFill>
                <a:latin typeface="Calibri"/>
              </a:rPr>
              <a:t>Review: Keep · edit · notes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3712464"/>
            <a:ext cx="4078224" cy="457200"/>
          </a:xfrm>
          <a:prstGeom prst="roundRect">
            <a:avLst>
              <a:gd name="adj" fmla="val 12000"/>
            </a:avLst>
          </a:prstGeom>
          <a:solidFill>
            <a:srgbClr val="FBE6D2"/>
          </a:solidFill>
          <a:ln w="15875">
            <a:solidFill>
              <a:srgbClr val="B06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6A17"/>
                </a:solidFill>
                <a:latin typeface="Calibri"/>
              </a:rPr>
              <a:t>◇ needs-clarification?  </a:t>
            </a:r>
            <a:r>
              <a:rPr sz="900" b="0">
                <a:solidFill>
                  <a:srgbClr val="47517A"/>
                </a:solidFill>
                <a:latin typeface="Calibri"/>
              </a:rPr>
              <a:t>Yes → ask client ⟲   ·   No 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4242816"/>
            <a:ext cx="19659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C7422"/>
                </a:solidFill>
                <a:latin typeface="Calibri"/>
              </a:rPr>
              <a:t>5 · </a:t>
            </a:r>
            <a:r>
              <a:rPr sz="950" b="1">
                <a:solidFill>
                  <a:srgbClr val="16203C"/>
                </a:solidFill>
                <a:latin typeface="Calibri"/>
              </a:rPr>
              <a:t>Confirm items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780" b="0">
                <a:solidFill>
                  <a:srgbClr val="47517A"/>
                </a:solidFill>
                <a:latin typeface="Calibri"/>
              </a:rPr>
              <a:t>commits guidance + watchlist · fills NO fields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24144" y="4242816"/>
            <a:ext cx="19659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C7422"/>
                </a:solidFill>
                <a:latin typeface="Calibri"/>
              </a:rPr>
              <a:t>6 · </a:t>
            </a:r>
            <a:r>
              <a:rPr sz="950" b="1">
                <a:solidFill>
                  <a:srgbClr val="16203C"/>
                </a:solidFill>
                <a:latin typeface="Calibri"/>
              </a:rPr>
              <a:t>Apply to allocation targets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780" b="0">
                <a:solidFill>
                  <a:srgbClr val="47517A"/>
                </a:solidFill>
                <a:latin typeface="Calibri"/>
              </a:rPr>
              <a:t>only action that fills sleeves · optional · ⤶ fills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91271" y="3575304"/>
            <a:ext cx="162763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7422"/>
                </a:solidFill>
                <a:latin typeface="Calibri"/>
              </a:rPr>
              <a:t>7 · </a:t>
            </a:r>
            <a:r>
              <a:rPr sz="1000" b="1">
                <a:solidFill>
                  <a:srgbClr val="16203C"/>
                </a:solidFill>
                <a:latin typeface="Calibri"/>
              </a:rPr>
              <a:t>Upload → Analyse ▸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830" b="0">
                <a:solidFill>
                  <a:srgbClr val="47517A"/>
                </a:solidFill>
                <a:latin typeface="Calibri"/>
              </a:rPr>
              <a:t>after policy above is set · then live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59" y="3108960"/>
            <a:ext cx="2039112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7422"/>
                </a:solidFill>
                <a:latin typeface="Calibri"/>
              </a:rPr>
              <a:t>8 · </a:t>
            </a:r>
            <a:r>
              <a:rPr sz="1000" b="1">
                <a:solidFill>
                  <a:srgbClr val="16203C"/>
                </a:solidFill>
                <a:latin typeface="Calibri"/>
              </a:rPr>
              <a:t>Review Overview / Suitability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59" y="4114800"/>
            <a:ext cx="2039112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7422"/>
                </a:solidFill>
                <a:latin typeface="Calibri"/>
              </a:rPr>
              <a:t>9 · </a:t>
            </a:r>
            <a:r>
              <a:rPr sz="1000" b="1">
                <a:solidFill>
                  <a:srgbClr val="16203C"/>
                </a:solidFill>
                <a:latin typeface="Calibri"/>
              </a:rPr>
              <a:t>Open Proposal → Generate deck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830" b="0">
                <a:solidFill>
                  <a:srgbClr val="47517A"/>
                </a:solidFill>
                <a:latin typeface="Calibri"/>
              </a:rPr>
              <a:t>PPTX / PDF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11880" y="5376672"/>
            <a:ext cx="197510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CD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38CAD"/>
                </a:solidFill>
                <a:latin typeface="Calibri"/>
              </a:rPr>
              <a:t>⚙ AUTO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47517A"/>
                </a:solidFill>
                <a:latin typeface="Calibri"/>
              </a:rPr>
              <a:t>Classify + tag tier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30" b="0">
                <a:solidFill>
                  <a:srgbClr val="47517A"/>
                </a:solidFill>
                <a:latin typeface="Calibri"/>
              </a:rPr>
              <a:t>🔒 / 📡 / 📝 per item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5376672"/>
            <a:ext cx="197510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CD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38CAD"/>
                </a:solidFill>
                <a:latin typeface="Calibri"/>
              </a:rPr>
              <a:t>⚙ ON CONFIRM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47517A"/>
                </a:solidFill>
                <a:latin typeface="Calibri"/>
              </a:rPr>
              <a:t>Watchlist + guidance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30" b="0">
                <a:solidFill>
                  <a:srgbClr val="47517A"/>
                </a:solidFill>
                <a:latin typeface="Calibri"/>
              </a:rPr>
              <a:t>+ builds Proposed allocation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91271" y="5321807"/>
            <a:ext cx="16276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CD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38CAD"/>
                </a:solidFill>
                <a:latin typeface="Calibri"/>
              </a:rPr>
              <a:t>⚙ ON ANALYSE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47517A"/>
                </a:solidFill>
                <a:latin typeface="Calibri"/>
              </a:rPr>
              <a:t>Parse → build the book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91271" y="5925312"/>
            <a:ext cx="16276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CD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38CAD"/>
                </a:solidFill>
                <a:latin typeface="Calibri"/>
              </a:rPr>
              <a:t>⚙ AUTO · LIVE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47517A"/>
                </a:solidFill>
                <a:latin typeface="Calibri"/>
              </a:rPr>
              <a:t>Compute + apply 🔒 triggers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30" b="0">
                <a:solidFill>
                  <a:srgbClr val="47517A"/>
                </a:solidFill>
                <a:latin typeface="Calibri"/>
              </a:rPr>
              <a:t>gates buys vs live price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59" y="5376672"/>
            <a:ext cx="203911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CD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38CAD"/>
                </a:solidFill>
                <a:latin typeface="Calibri"/>
              </a:rPr>
              <a:t>⚙ AUTO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47517A"/>
                </a:solidFill>
                <a:latin typeface="Calibri"/>
              </a:rPr>
              <a:t>Generate PPTX / PDF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30" b="0">
                <a:solidFill>
                  <a:srgbClr val="47517A"/>
                </a:solidFill>
                <a:latin typeface="Calibri"/>
              </a:rPr>
              <a:t>figures deterministic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4710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7517A"/>
                </a:solidFill>
                <a:latin typeface="Calibri"/>
              </a:rPr>
              <a:t>Recommended order: set the policy (1–6) first, then Analyse (7). Confirm (5) fills no fields; allocations only via Apply (6); limits manual. v8: a 🔒 enforced price trigger gates a buy at Analyse (vs a sourced live price); 📡/📝 items never touch a figure.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